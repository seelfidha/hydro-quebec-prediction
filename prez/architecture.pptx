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0" r:id="rId2"/>
    <p:sldId id="271" r:id="rId3"/>
    <p:sldId id="264" r:id="rId4"/>
    <p:sldId id="265" r:id="rId5"/>
    <p:sldId id="266" r:id="rId6"/>
    <p:sldId id="267" r:id="rId7"/>
    <p:sldId id="268" r:id="rId8"/>
    <p:sldId id="269" r:id="rId9"/>
    <p:sldId id="262" r:id="rId10"/>
    <p:sldId id="272" r:id="rId11"/>
    <p:sldId id="256" r:id="rId12"/>
    <p:sldId id="258" r:id="rId13"/>
    <p:sldId id="260" r:id="rId14"/>
    <p:sldId id="259" r:id="rId15"/>
    <p:sldId id="263" r:id="rId16"/>
    <p:sldId id="274" r:id="rId17"/>
    <p:sldId id="275" r:id="rId18"/>
    <p:sldId id="276" r:id="rId19"/>
    <p:sldId id="277" r:id="rId20"/>
    <p:sldId id="278" r:id="rId21"/>
    <p:sldId id="2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F9CAC-4D47-45EF-9ECD-BBAF44F7BFEA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26BF00-712E-4204-8E1A-FCF5D7CCC6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3130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26BF00-712E-4204-8E1A-FCF5D7CCC6AD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4188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26BF00-712E-4204-8E1A-FCF5D7CCC6AD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1337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26BF00-712E-4204-8E1A-FCF5D7CCC6AD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1953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DC643-4FF4-9772-66CC-6336B4C44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1DC606-7712-0EA5-0D58-45E571576D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066C0-1E61-CED2-65FD-5E39DB8CE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7D31-24EF-4195-9A9F-81F4CEA9F9FE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E1837-B90F-61E4-2C28-486D5F222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8E84E-79BC-9B5C-1D08-96481DE0C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7CE4-B8E4-4258-AA85-5EBC27CB6D5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4727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7E544-16FF-F12C-90CD-78CEB3CBE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AE057-0DCF-97CE-CF38-2230663FC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EF33F-A4F8-D997-0666-E762FA5B9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7D31-24EF-4195-9A9F-81F4CEA9F9FE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58B14-19CA-A7D4-EAB7-488B607A0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A4A8E-8663-880C-B8F5-4E1B336D5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7CE4-B8E4-4258-AA85-5EBC27CB6D5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5356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4C6B0-5865-578A-5C22-D36B9F80D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EC27E-6412-0BA2-BB3A-2351FE244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C163B-6B0B-6730-3923-D38E144B8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7D31-24EF-4195-9A9F-81F4CEA9F9FE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B8F2A-8C36-0F11-B837-9CBC8F56A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96332-04F7-E74B-6BF4-6BF61A0AF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7CE4-B8E4-4258-AA85-5EBC27CB6D5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5379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E8620-0428-0F9C-AB76-C367E733C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58160-EE4C-ED78-3E36-CEEE0F938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4D5E6-34F2-6545-B103-FC5B05436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C023B-2F8F-5E83-0F31-8A9876544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7D31-24EF-4195-9A9F-81F4CEA9F9FE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C3537-3177-8A76-778D-418F58FBA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8596F-7D7D-BA3F-8D57-29A18C843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7CE4-B8E4-4258-AA85-5EBC27CB6D5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8697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30D03-E9C0-EB20-6ED5-E03FAE9AB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C2DF1-5B2E-960D-4290-81108A0BC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B4C87-E236-1367-DD60-DD8FFA00A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78677B-EA37-2272-84A5-B3C105845B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4CE9E2-C5A8-8365-526D-30F09A1617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F87EE1-34A4-52F1-83F9-E7EAFB59F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7D31-24EF-4195-9A9F-81F4CEA9F9FE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4C238D-3259-0C19-B1BF-68326BA18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F74D1-EC81-E82F-BADB-232ACB99E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7CE4-B8E4-4258-AA85-5EBC27CB6D5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7522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DFC92-8ABB-EAF3-329C-BF9ABFC13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1417D1-2C87-3C01-7AE3-A530BB4B4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7D31-24EF-4195-9A9F-81F4CEA9F9FE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E51B52-6D9B-1342-6AA3-28A186239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1092CC-1F5A-D138-6494-94BF27226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7CE4-B8E4-4258-AA85-5EBC27CB6D5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373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D7E90F-6EDC-9FD0-69C3-67EB98823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7D31-24EF-4195-9A9F-81F4CEA9F9FE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B965A5-1C2A-5810-A5B2-2AD627785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D0F48-4EB5-0C39-2C8E-A456FC289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7CE4-B8E4-4258-AA85-5EBC27CB6D5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4649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CB65D-DC8A-749B-D9CC-C4DA4B31C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DE647-1234-AB58-58DE-AA4C6F39C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C3626-C6A9-AD48-9EDB-B7EF5F390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4706C-16BF-58EF-B8C3-0B6EAD955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7D31-24EF-4195-9A9F-81F4CEA9F9FE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C9B62-FCDD-91CE-926D-DB641BFD3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F5F45-5FE6-7DC5-44EC-625E2E26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7CE4-B8E4-4258-AA85-5EBC27CB6D5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8354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76C0E-F11E-BD0E-566B-F97BB07DE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9F04CA-2088-1EE7-0D66-9D96821350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16CD18-95A5-EE52-AD12-59496BF4C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344C7-98D9-3C8B-8CA1-DEC7BF6D4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7D31-24EF-4195-9A9F-81F4CEA9F9FE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3691F3-87AC-F837-14BD-41AB7D377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FBB9D-C090-8B4E-D0C4-F8A874FD9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7CE4-B8E4-4258-AA85-5EBC27CB6D5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8856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56761-72EE-416A-9143-4FAEABBB0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FF426C-C840-3AB3-80F6-16AC476D39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52EE0-A1F1-7288-8C29-46E9E9BCE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7D31-24EF-4195-9A9F-81F4CEA9F9FE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77C47-CC03-AFA1-6719-1442D9EB8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9AEDE-658B-B2C2-89E5-F8421C085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7CE4-B8E4-4258-AA85-5EBC27CB6D5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3501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E87218-C2DC-2EAC-0137-8A538EC089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F621D-58D3-297C-F5A5-144DDF04A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7A353-DC18-5500-3560-45ABBD976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7D31-24EF-4195-9A9F-81F4CEA9F9FE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18C72-D098-9181-7386-026C602F7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404A4-62B2-32A6-CCD4-4B603E752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7CE4-B8E4-4258-AA85-5EBC27CB6D5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2094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6C77B5-6A1E-EB4C-ED09-981452968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41409-F26A-1E1A-4B95-53CCF8C1B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92724-3ADC-69D9-84C9-EFDE4E3962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727D31-24EF-4195-9A9F-81F4CEA9F9FE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0FCC7-1AE0-FD1B-38D6-33119A5194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706F1-08A4-390C-A6EB-8B1459F37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F07CE4-B8E4-4258-AA85-5EBC27CB6D5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5178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9D67B2-6FBA-AC49-AC92-422C7A646B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fr-FR" sz="5400"/>
              <a:t>Prédire la prochaine interruption chez Hydro-Quebec</a:t>
            </a:r>
            <a:endParaRPr lang="en-CA" sz="540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58F32D5-302D-D45B-11F0-736B7ED864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fr-FR" dirty="0"/>
              <a:t>Module: Processus et écosystème de </a:t>
            </a:r>
            <a:r>
              <a:rPr lang="fr-FR" dirty="0" err="1"/>
              <a:t>l’ia</a:t>
            </a:r>
            <a:endParaRPr lang="fr-FR" dirty="0"/>
          </a:p>
          <a:p>
            <a:pPr algn="l"/>
            <a:r>
              <a:rPr lang="fr-FR" dirty="0"/>
              <a:t>Préparé par: Slaheddine Elfidha </a:t>
            </a:r>
            <a:endParaRPr lang="en-CA" dirty="0"/>
          </a:p>
        </p:txBody>
      </p:sp>
      <p:pic>
        <p:nvPicPr>
          <p:cNvPr id="22" name="Picture 21" descr="Top view of melting ice">
            <a:extLst>
              <a:ext uri="{FF2B5EF4-FFF2-40B4-BE49-F238E27FC236}">
                <a16:creationId xmlns:a16="http://schemas.microsoft.com/office/drawing/2014/main" id="{56406343-4643-B0BB-F394-365E3E3BDE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110" b="-3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8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116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FE62B-BD92-6337-DF41-D71734881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8A121-429D-909A-32DF-940966DE7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>
                <a:highlight>
                  <a:srgbClr val="C0C0C0"/>
                </a:highlight>
              </a:rPr>
              <a:t>Etude théorique du problème</a:t>
            </a:r>
          </a:p>
          <a:p>
            <a:pPr lvl="1"/>
            <a:r>
              <a:rPr lang="fr-FR" dirty="0"/>
              <a:t>Collecte de donnée </a:t>
            </a:r>
          </a:p>
          <a:p>
            <a:pPr lvl="1"/>
            <a:r>
              <a:rPr lang="fr-FR" dirty="0"/>
              <a:t>EDA</a:t>
            </a:r>
          </a:p>
          <a:p>
            <a:pPr lvl="1"/>
            <a:r>
              <a:rPr lang="fr-FR" dirty="0"/>
              <a:t>Pré-traitement </a:t>
            </a:r>
          </a:p>
          <a:p>
            <a:pPr lvl="1"/>
            <a:r>
              <a:rPr lang="en-CA" dirty="0"/>
              <a:t>Choix du </a:t>
            </a:r>
            <a:r>
              <a:rPr lang="en-CA" dirty="0" err="1"/>
              <a:t>modèle</a:t>
            </a:r>
            <a:r>
              <a:rPr lang="en-CA" dirty="0"/>
              <a:t> </a:t>
            </a:r>
          </a:p>
          <a:p>
            <a:pPr lvl="1"/>
            <a:r>
              <a:rPr lang="en-CA" dirty="0"/>
              <a:t>Evaluation </a:t>
            </a:r>
          </a:p>
          <a:p>
            <a:pPr lvl="1"/>
            <a:r>
              <a:rPr lang="en-CA" dirty="0"/>
              <a:t>Decision </a:t>
            </a:r>
          </a:p>
          <a:p>
            <a:r>
              <a:rPr lang="en-CA" dirty="0"/>
              <a:t>Solution mise </a:t>
            </a:r>
            <a:r>
              <a:rPr lang="en-CA" dirty="0" err="1"/>
              <a:t>en</a:t>
            </a:r>
            <a:r>
              <a:rPr lang="en-CA" dirty="0"/>
              <a:t> place  </a:t>
            </a:r>
          </a:p>
          <a:p>
            <a:pPr lvl="1"/>
            <a:r>
              <a:rPr lang="en-CA" dirty="0" err="1"/>
              <a:t>Composante</a:t>
            </a:r>
            <a:r>
              <a:rPr lang="en-CA" dirty="0"/>
              <a:t> </a:t>
            </a:r>
            <a:r>
              <a:rPr lang="en-CA" dirty="0" err="1"/>
              <a:t>implémentées</a:t>
            </a:r>
            <a:endParaRPr lang="en-CA" dirty="0"/>
          </a:p>
          <a:p>
            <a:pPr lvl="1"/>
            <a:r>
              <a:rPr lang="en-CA" dirty="0"/>
              <a:t>Technologies </a:t>
            </a:r>
            <a:r>
              <a:rPr lang="en-CA" dirty="0" err="1"/>
              <a:t>utilisées</a:t>
            </a:r>
            <a:r>
              <a:rPr lang="en-CA" dirty="0"/>
              <a:t> </a:t>
            </a:r>
          </a:p>
          <a:p>
            <a:r>
              <a:rPr lang="en-CA" dirty="0" err="1"/>
              <a:t>Prochainements</a:t>
            </a:r>
            <a:r>
              <a:rPr lang="en-CA" dirty="0"/>
              <a:t> ? </a:t>
            </a:r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49661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C9C4EE-4D5F-21F3-FE5B-9989EA5E9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3" y="943897"/>
            <a:ext cx="7973962" cy="5233065"/>
          </a:xfrm>
        </p:spPr>
        <p:txBody>
          <a:bodyPr/>
          <a:lstStyle/>
          <a:p>
            <a:pPr lvl="0"/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Une Api </a:t>
            </a:r>
            <a:r>
              <a:rPr lang="en-CA" dirty="0" err="1"/>
              <a:t>proposée</a:t>
            </a:r>
            <a:r>
              <a:rPr lang="en-CA" dirty="0"/>
              <a:t> par Hydro-Quebec</a:t>
            </a:r>
          </a:p>
          <a:p>
            <a:pPr lvl="0"/>
            <a:r>
              <a:rPr lang="en-CA" dirty="0"/>
              <a:t>Une mise a jour </a:t>
            </a:r>
            <a:r>
              <a:rPr lang="en-CA" dirty="0" err="1"/>
              <a:t>tous</a:t>
            </a:r>
            <a:r>
              <a:rPr lang="en-CA" dirty="0"/>
              <a:t> les 15 minutes </a:t>
            </a:r>
          </a:p>
          <a:p>
            <a:pPr lvl="0"/>
            <a:r>
              <a:rPr lang="en-CA" dirty="0"/>
              <a:t>Données au format </a:t>
            </a:r>
            <a:r>
              <a:rPr lang="en-CA" dirty="0" err="1"/>
              <a:t>json</a:t>
            </a:r>
            <a:endParaRPr lang="en-CA" dirty="0"/>
          </a:p>
          <a:p>
            <a:pPr lvl="0"/>
            <a:r>
              <a:rPr lang="en-CA" dirty="0"/>
              <a:t>A jour on a </a:t>
            </a:r>
            <a:r>
              <a:rPr lang="en-CA" dirty="0" err="1"/>
              <a:t>récolté</a:t>
            </a:r>
            <a:r>
              <a:rPr lang="en-CA" dirty="0"/>
              <a:t> 5000 </a:t>
            </a:r>
            <a:r>
              <a:rPr lang="en-CA" dirty="0" err="1"/>
              <a:t>lignes</a:t>
            </a:r>
            <a:r>
              <a:rPr lang="en-CA" dirty="0"/>
              <a:t> </a:t>
            </a:r>
            <a:r>
              <a:rPr lang="en-CA" dirty="0" err="1"/>
              <a:t>en</a:t>
            </a:r>
            <a:r>
              <a:rPr lang="en-CA" dirty="0"/>
              <a:t> bd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F6825B-7065-8AED-91EC-639F9DA04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754" y="4830250"/>
            <a:ext cx="6769542" cy="10838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Content Placeholder 3" descr="Logo Hydro-Québec">
            <a:extLst>
              <a:ext uri="{FF2B5EF4-FFF2-40B4-BE49-F238E27FC236}">
                <a16:creationId xmlns:a16="http://schemas.microsoft.com/office/drawing/2014/main" id="{8FC5C09C-CB9F-A934-2580-B2D83E799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0747" y="170330"/>
            <a:ext cx="1651819" cy="1355009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F25391E4-5844-9E64-0812-EF102915F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3" y="365125"/>
            <a:ext cx="5732208" cy="1325563"/>
          </a:xfrm>
        </p:spPr>
        <p:txBody>
          <a:bodyPr/>
          <a:lstStyle/>
          <a:p>
            <a:r>
              <a:rPr lang="fr-FR" dirty="0"/>
              <a:t>Collecte de données</a:t>
            </a:r>
            <a:endParaRPr lang="en-CA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3BE3A1D-349C-039D-35F7-ED0E1B245BA1}"/>
              </a:ext>
            </a:extLst>
          </p:cNvPr>
          <p:cNvSpPr/>
          <p:nvPr/>
        </p:nvSpPr>
        <p:spPr>
          <a:xfrm>
            <a:off x="1118420" y="245807"/>
            <a:ext cx="1927122" cy="78658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 err="1"/>
              <a:t>Collecte</a:t>
            </a:r>
            <a:r>
              <a:rPr lang="en-CA" dirty="0"/>
              <a:t> de donnée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B89E30F-CA26-750D-745C-4C02BD0CE609}"/>
              </a:ext>
            </a:extLst>
          </p:cNvPr>
          <p:cNvSpPr/>
          <p:nvPr/>
        </p:nvSpPr>
        <p:spPr>
          <a:xfrm>
            <a:off x="1118420" y="1283114"/>
            <a:ext cx="1927122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EDA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1C5DE9B-1366-1C3E-668E-AA3405BDD494}"/>
              </a:ext>
            </a:extLst>
          </p:cNvPr>
          <p:cNvSpPr/>
          <p:nvPr/>
        </p:nvSpPr>
        <p:spPr>
          <a:xfrm>
            <a:off x="1118420" y="2337620"/>
            <a:ext cx="1927122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Pre-</a:t>
            </a:r>
            <a:r>
              <a:rPr lang="en-CA" dirty="0" err="1"/>
              <a:t>traitement</a:t>
            </a:r>
            <a:endParaRPr lang="en-CA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DE2FE3D-47C5-A19C-44A0-F2A4DBEA77FF}"/>
              </a:ext>
            </a:extLst>
          </p:cNvPr>
          <p:cNvCxnSpPr>
            <a:stCxn id="32" idx="2"/>
            <a:endCxn id="33" idx="0"/>
          </p:cNvCxnSpPr>
          <p:nvPr/>
        </p:nvCxnSpPr>
        <p:spPr>
          <a:xfrm>
            <a:off x="2081981" y="1032388"/>
            <a:ext cx="0" cy="250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D7A7EF0-AE25-7EA0-3783-13F21B433AB8}"/>
              </a:ext>
            </a:extLst>
          </p:cNvPr>
          <p:cNvCxnSpPr>
            <a:stCxn id="33" idx="2"/>
            <a:endCxn id="34" idx="0"/>
          </p:cNvCxnSpPr>
          <p:nvPr/>
        </p:nvCxnSpPr>
        <p:spPr>
          <a:xfrm>
            <a:off x="2081981" y="2069695"/>
            <a:ext cx="0" cy="267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A753FEB-35B0-6A4D-6C60-531F21738A2F}"/>
              </a:ext>
            </a:extLst>
          </p:cNvPr>
          <p:cNvSpPr/>
          <p:nvPr/>
        </p:nvSpPr>
        <p:spPr>
          <a:xfrm>
            <a:off x="1118420" y="3408030"/>
            <a:ext cx="1927122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Modèle</a:t>
            </a:r>
            <a:endParaRPr lang="en-CA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E61CE8F-9DE7-DB4E-2351-969B73A584AC}"/>
              </a:ext>
            </a:extLst>
          </p:cNvPr>
          <p:cNvCxnSpPr>
            <a:cxnSpLocks/>
            <a:stCxn id="34" idx="2"/>
            <a:endCxn id="37" idx="0"/>
          </p:cNvCxnSpPr>
          <p:nvPr/>
        </p:nvCxnSpPr>
        <p:spPr>
          <a:xfrm>
            <a:off x="2081981" y="3124201"/>
            <a:ext cx="0" cy="283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994DE11-BFD7-23BD-D0E5-6CBBFAEF0A66}"/>
              </a:ext>
            </a:extLst>
          </p:cNvPr>
          <p:cNvSpPr/>
          <p:nvPr/>
        </p:nvSpPr>
        <p:spPr>
          <a:xfrm>
            <a:off x="1118420" y="4478440"/>
            <a:ext cx="1927122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Evaluation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2279716-7E1B-17E5-9EC3-CD9966011369}"/>
              </a:ext>
            </a:extLst>
          </p:cNvPr>
          <p:cNvCxnSpPr>
            <a:cxnSpLocks/>
            <a:stCxn id="37" idx="2"/>
            <a:endCxn id="39" idx="0"/>
          </p:cNvCxnSpPr>
          <p:nvPr/>
        </p:nvCxnSpPr>
        <p:spPr>
          <a:xfrm>
            <a:off x="2081981" y="4194611"/>
            <a:ext cx="0" cy="283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51B9364-FAD9-CB2A-01CC-FC5DC3CD0D71}"/>
              </a:ext>
            </a:extLst>
          </p:cNvPr>
          <p:cNvSpPr/>
          <p:nvPr/>
        </p:nvSpPr>
        <p:spPr>
          <a:xfrm>
            <a:off x="1118420" y="5942137"/>
            <a:ext cx="1927122" cy="78658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Deploiement</a:t>
            </a:r>
            <a:endParaRPr lang="en-CA" dirty="0"/>
          </a:p>
        </p:txBody>
      </p:sp>
      <p:sp>
        <p:nvSpPr>
          <p:cNvPr id="42" name="Flowchart: Decision 41">
            <a:extLst>
              <a:ext uri="{FF2B5EF4-FFF2-40B4-BE49-F238E27FC236}">
                <a16:creationId xmlns:a16="http://schemas.microsoft.com/office/drawing/2014/main" id="{A32F0623-CBDF-2268-ED6B-90FD487D3039}"/>
              </a:ext>
            </a:extLst>
          </p:cNvPr>
          <p:cNvSpPr/>
          <p:nvPr/>
        </p:nvSpPr>
        <p:spPr>
          <a:xfrm>
            <a:off x="1531376" y="5315909"/>
            <a:ext cx="1101209" cy="575340"/>
          </a:xfrm>
          <a:prstGeom prst="flowChartDecisio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-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68339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3E13F-8285-4A11-A1DC-A61AEB5E5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C163A2-E08C-50E2-983F-5B12418FF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3" y="943897"/>
            <a:ext cx="7973962" cy="5233065"/>
          </a:xfrm>
        </p:spPr>
        <p:txBody>
          <a:bodyPr/>
          <a:lstStyle/>
          <a:p>
            <a:pPr lvl="1"/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9" name="Content Placeholder 3" descr="Logo Hydro-Québec">
            <a:extLst>
              <a:ext uri="{FF2B5EF4-FFF2-40B4-BE49-F238E27FC236}">
                <a16:creationId xmlns:a16="http://schemas.microsoft.com/office/drawing/2014/main" id="{CF8DC203-DED1-F4CE-1523-EA5165516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0747" y="170330"/>
            <a:ext cx="1651819" cy="135500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DAE325-D20D-4674-8FA6-F4766213CFE6}"/>
              </a:ext>
            </a:extLst>
          </p:cNvPr>
          <p:cNvSpPr txBox="1">
            <a:spLocks/>
          </p:cNvSpPr>
          <p:nvPr/>
        </p:nvSpPr>
        <p:spPr>
          <a:xfrm>
            <a:off x="4085303" y="1096297"/>
            <a:ext cx="7973962" cy="52330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/>
          </a:p>
          <a:p>
            <a:r>
              <a:rPr lang="en-CA" dirty="0"/>
              <a:t>Sur les 5000 </a:t>
            </a:r>
            <a:r>
              <a:rPr lang="en-CA" dirty="0" err="1"/>
              <a:t>lignes</a:t>
            </a:r>
            <a:r>
              <a:rPr lang="en-CA" dirty="0"/>
              <a:t>: </a:t>
            </a:r>
          </a:p>
          <a:p>
            <a:pPr lvl="1"/>
            <a:r>
              <a:rPr lang="en-CA" dirty="0" err="1"/>
              <a:t>Plusieurs</a:t>
            </a:r>
            <a:r>
              <a:rPr lang="en-CA" dirty="0"/>
              <a:t> </a:t>
            </a:r>
            <a:r>
              <a:rPr lang="en-CA" dirty="0" err="1"/>
              <a:t>colonnes</a:t>
            </a:r>
            <a:r>
              <a:rPr lang="en-CA" dirty="0"/>
              <a:t> avec des </a:t>
            </a:r>
            <a:r>
              <a:rPr lang="en-CA" dirty="0" err="1"/>
              <a:t>valeurs</a:t>
            </a:r>
            <a:r>
              <a:rPr lang="en-CA" dirty="0"/>
              <a:t> </a:t>
            </a:r>
            <a:r>
              <a:rPr lang="en-CA" dirty="0" err="1"/>
              <a:t>nulles</a:t>
            </a:r>
            <a:endParaRPr lang="en-CA" dirty="0"/>
          </a:p>
          <a:p>
            <a:pPr lvl="1"/>
            <a:r>
              <a:rPr lang="en-CA" dirty="0" err="1"/>
              <a:t>Plusieurs</a:t>
            </a:r>
            <a:r>
              <a:rPr lang="en-CA" dirty="0"/>
              <a:t> </a:t>
            </a:r>
            <a:r>
              <a:rPr lang="en-CA" dirty="0" err="1"/>
              <a:t>lignes</a:t>
            </a:r>
            <a:r>
              <a:rPr lang="en-CA" dirty="0"/>
              <a:t> </a:t>
            </a:r>
            <a:r>
              <a:rPr lang="en-CA" dirty="0" err="1"/>
              <a:t>dupliquées</a:t>
            </a:r>
            <a:r>
              <a:rPr lang="en-CA" dirty="0"/>
              <a:t> </a:t>
            </a:r>
          </a:p>
          <a:p>
            <a:r>
              <a:rPr lang="en-CA" dirty="0"/>
              <a:t>Les données </a:t>
            </a:r>
            <a:r>
              <a:rPr lang="en-CA" dirty="0" err="1"/>
              <a:t>récoltées</a:t>
            </a:r>
            <a:r>
              <a:rPr lang="en-CA" dirty="0"/>
              <a:t> </a:t>
            </a:r>
            <a:r>
              <a:rPr lang="en-CA" dirty="0" err="1"/>
              <a:t>sont</a:t>
            </a:r>
            <a:r>
              <a:rPr lang="en-CA" dirty="0"/>
              <a:t> : </a:t>
            </a:r>
          </a:p>
          <a:p>
            <a:pPr lvl="1"/>
            <a:r>
              <a:rPr lang="en-CA" dirty="0" err="1"/>
              <a:t>l’emplacement</a:t>
            </a:r>
            <a:r>
              <a:rPr lang="en-CA" dirty="0"/>
              <a:t> </a:t>
            </a:r>
            <a:r>
              <a:rPr lang="en-CA" dirty="0" err="1"/>
              <a:t>géographique</a:t>
            </a:r>
            <a:r>
              <a:rPr lang="en-CA" dirty="0"/>
              <a:t> (latitude – longitude)</a:t>
            </a:r>
          </a:p>
          <a:p>
            <a:pPr lvl="1"/>
            <a:r>
              <a:rPr lang="en-CA" dirty="0"/>
              <a:t>le </a:t>
            </a:r>
            <a:r>
              <a:rPr lang="en-CA" dirty="0" err="1"/>
              <a:t>nombre</a:t>
            </a:r>
            <a:r>
              <a:rPr lang="en-CA" dirty="0"/>
              <a:t> de clients </a:t>
            </a:r>
            <a:r>
              <a:rPr lang="en-CA" dirty="0" err="1"/>
              <a:t>privés</a:t>
            </a:r>
            <a:r>
              <a:rPr lang="en-CA" dirty="0"/>
              <a:t> </a:t>
            </a:r>
            <a:r>
              <a:rPr lang="en-CA" dirty="0" err="1"/>
              <a:t>d’électricité</a:t>
            </a:r>
            <a:r>
              <a:rPr lang="en-CA" dirty="0"/>
              <a:t> </a:t>
            </a:r>
          </a:p>
          <a:p>
            <a:pPr lvl="1"/>
            <a:r>
              <a:rPr lang="en-CA" dirty="0" err="1"/>
              <a:t>l’heure</a:t>
            </a:r>
            <a:r>
              <a:rPr lang="en-CA" dirty="0"/>
              <a:t> de début de la panne </a:t>
            </a:r>
          </a:p>
          <a:p>
            <a:pPr lvl="1"/>
            <a:r>
              <a:rPr lang="en-CA" dirty="0"/>
              <a:t>la cause de la panne, </a:t>
            </a:r>
            <a:r>
              <a:rPr lang="en-CA" dirty="0" err="1"/>
              <a:t>si</a:t>
            </a:r>
            <a:r>
              <a:rPr lang="en-CA" dirty="0"/>
              <a:t> </a:t>
            </a:r>
            <a:r>
              <a:rPr lang="en-CA" dirty="0" err="1"/>
              <a:t>connue</a:t>
            </a:r>
            <a:r>
              <a:rPr lang="en-CA" dirty="0"/>
              <a:t> </a:t>
            </a:r>
          </a:p>
          <a:p>
            <a:pPr lvl="1"/>
            <a:r>
              <a:rPr lang="en-CA" dirty="0"/>
              <a:t>Un message </a:t>
            </a:r>
            <a:r>
              <a:rPr lang="en-CA" dirty="0" err="1"/>
              <a:t>descriptif</a:t>
            </a:r>
            <a:r>
              <a:rPr lang="en-CA" dirty="0"/>
              <a:t> (la </a:t>
            </a:r>
            <a:r>
              <a:rPr lang="en-CA" dirty="0" err="1"/>
              <a:t>majorité</a:t>
            </a:r>
            <a:r>
              <a:rPr lang="en-CA" dirty="0"/>
              <a:t> du temps </a:t>
            </a:r>
            <a:r>
              <a:rPr lang="en-CA" dirty="0" err="1"/>
              <a:t>chaine</a:t>
            </a:r>
            <a:r>
              <a:rPr lang="en-CA" dirty="0"/>
              <a:t> vide)</a:t>
            </a:r>
          </a:p>
          <a:p>
            <a:pPr lvl="1"/>
            <a:r>
              <a:rPr lang="en-CA" dirty="0" err="1"/>
              <a:t>l’heure</a:t>
            </a:r>
            <a:r>
              <a:rPr lang="en-CA" dirty="0"/>
              <a:t> de </a:t>
            </a:r>
            <a:r>
              <a:rPr lang="en-CA" dirty="0" err="1"/>
              <a:t>rétablissement</a:t>
            </a:r>
            <a:r>
              <a:rPr lang="en-CA" dirty="0"/>
              <a:t> </a:t>
            </a:r>
            <a:r>
              <a:rPr lang="en-CA" dirty="0" err="1"/>
              <a:t>prévu</a:t>
            </a:r>
            <a:r>
              <a:rPr lang="en-CA" dirty="0"/>
              <a:t> du service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0D289033-D283-4303-66B4-4DA806479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2" y="365125"/>
            <a:ext cx="5987845" cy="1325563"/>
          </a:xfrm>
        </p:spPr>
        <p:txBody>
          <a:bodyPr/>
          <a:lstStyle/>
          <a:p>
            <a:r>
              <a:rPr lang="fr-FR" dirty="0" err="1"/>
              <a:t>Exploratory</a:t>
            </a:r>
            <a:r>
              <a:rPr lang="fr-FR" dirty="0"/>
              <a:t> Data </a:t>
            </a:r>
            <a:r>
              <a:rPr lang="fr-FR" dirty="0" err="1"/>
              <a:t>Analysis</a:t>
            </a:r>
            <a:endParaRPr lang="en-CA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391EB4D-B099-16A7-2EC4-0CC234ED4DA5}"/>
              </a:ext>
            </a:extLst>
          </p:cNvPr>
          <p:cNvSpPr/>
          <p:nvPr/>
        </p:nvSpPr>
        <p:spPr>
          <a:xfrm>
            <a:off x="1118420" y="245807"/>
            <a:ext cx="1927122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Collecte</a:t>
            </a:r>
            <a:r>
              <a:rPr lang="en-CA" dirty="0"/>
              <a:t> de donnée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1023D24-63A6-39F0-7DAC-E8ED276271E4}"/>
              </a:ext>
            </a:extLst>
          </p:cNvPr>
          <p:cNvSpPr/>
          <p:nvPr/>
        </p:nvSpPr>
        <p:spPr>
          <a:xfrm>
            <a:off x="1118420" y="1283114"/>
            <a:ext cx="1927122" cy="78658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EDA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62F2446-6DCE-4429-5821-6F2C27DD2978}"/>
              </a:ext>
            </a:extLst>
          </p:cNvPr>
          <p:cNvSpPr/>
          <p:nvPr/>
        </p:nvSpPr>
        <p:spPr>
          <a:xfrm>
            <a:off x="1118420" y="2337620"/>
            <a:ext cx="1927122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Pre-</a:t>
            </a:r>
            <a:r>
              <a:rPr lang="en-CA" dirty="0" err="1"/>
              <a:t>traitement</a:t>
            </a:r>
            <a:endParaRPr lang="en-CA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D7DF363-8972-FDF0-BEEC-219652812BAB}"/>
              </a:ext>
            </a:extLst>
          </p:cNvPr>
          <p:cNvCxnSpPr>
            <a:stCxn id="31" idx="2"/>
            <a:endCxn id="32" idx="0"/>
          </p:cNvCxnSpPr>
          <p:nvPr/>
        </p:nvCxnSpPr>
        <p:spPr>
          <a:xfrm>
            <a:off x="2081981" y="1032388"/>
            <a:ext cx="0" cy="250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58FACC8-A0ED-F3D3-9F5B-30F2923727A1}"/>
              </a:ext>
            </a:extLst>
          </p:cNvPr>
          <p:cNvCxnSpPr>
            <a:stCxn id="32" idx="2"/>
            <a:endCxn id="33" idx="0"/>
          </p:cNvCxnSpPr>
          <p:nvPr/>
        </p:nvCxnSpPr>
        <p:spPr>
          <a:xfrm>
            <a:off x="2081981" y="2069695"/>
            <a:ext cx="0" cy="267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29D6059-2E26-3A33-3075-1CA62C750E94}"/>
              </a:ext>
            </a:extLst>
          </p:cNvPr>
          <p:cNvSpPr/>
          <p:nvPr/>
        </p:nvSpPr>
        <p:spPr>
          <a:xfrm>
            <a:off x="1118420" y="3408030"/>
            <a:ext cx="1927122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Modèle</a:t>
            </a:r>
            <a:endParaRPr lang="en-CA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BF8C6D6-4E9E-0E26-3B40-B65B32CA24BF}"/>
              </a:ext>
            </a:extLst>
          </p:cNvPr>
          <p:cNvCxnSpPr>
            <a:cxnSpLocks/>
            <a:stCxn id="33" idx="2"/>
            <a:endCxn id="36" idx="0"/>
          </p:cNvCxnSpPr>
          <p:nvPr/>
        </p:nvCxnSpPr>
        <p:spPr>
          <a:xfrm>
            <a:off x="2081981" y="3124201"/>
            <a:ext cx="0" cy="283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0F6C674-CE75-DCE4-0722-C18E8BED2E67}"/>
              </a:ext>
            </a:extLst>
          </p:cNvPr>
          <p:cNvSpPr/>
          <p:nvPr/>
        </p:nvSpPr>
        <p:spPr>
          <a:xfrm>
            <a:off x="1118420" y="4478440"/>
            <a:ext cx="1927122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Evaluation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C7AC566-CF45-4D1A-930D-35169FDA5D4F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>
            <a:off x="2081981" y="4194611"/>
            <a:ext cx="0" cy="283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49FF04C-9ABD-5032-EE09-E80C37410700}"/>
              </a:ext>
            </a:extLst>
          </p:cNvPr>
          <p:cNvSpPr/>
          <p:nvPr/>
        </p:nvSpPr>
        <p:spPr>
          <a:xfrm>
            <a:off x="1118420" y="5942137"/>
            <a:ext cx="1927122" cy="78658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Deploiement</a:t>
            </a:r>
            <a:endParaRPr lang="en-CA" dirty="0"/>
          </a:p>
        </p:txBody>
      </p:sp>
      <p:sp>
        <p:nvSpPr>
          <p:cNvPr id="41" name="Flowchart: Decision 40">
            <a:extLst>
              <a:ext uri="{FF2B5EF4-FFF2-40B4-BE49-F238E27FC236}">
                <a16:creationId xmlns:a16="http://schemas.microsoft.com/office/drawing/2014/main" id="{C5F779E4-2C97-F35C-C301-7F18533B9720}"/>
              </a:ext>
            </a:extLst>
          </p:cNvPr>
          <p:cNvSpPr/>
          <p:nvPr/>
        </p:nvSpPr>
        <p:spPr>
          <a:xfrm>
            <a:off x="1531376" y="5315909"/>
            <a:ext cx="1101209" cy="575340"/>
          </a:xfrm>
          <a:prstGeom prst="flowChartDecisio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-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12381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92207-9D1C-FBDE-26EE-2F9AA2D94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F61EE43-E73A-4C35-7C57-B2D5F0DD6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3" y="943897"/>
            <a:ext cx="7973962" cy="5233065"/>
          </a:xfrm>
        </p:spPr>
        <p:txBody>
          <a:bodyPr/>
          <a:lstStyle/>
          <a:p>
            <a:pPr lvl="1"/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9" name="Content Placeholder 3" descr="Logo Hydro-Québec">
            <a:extLst>
              <a:ext uri="{FF2B5EF4-FFF2-40B4-BE49-F238E27FC236}">
                <a16:creationId xmlns:a16="http://schemas.microsoft.com/office/drawing/2014/main" id="{E5F37E4B-6A5E-539E-264B-06E04593C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0747" y="170330"/>
            <a:ext cx="1651819" cy="135500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41ABC18-1062-18CE-8B8C-72EA04C13778}"/>
              </a:ext>
            </a:extLst>
          </p:cNvPr>
          <p:cNvSpPr txBox="1">
            <a:spLocks/>
          </p:cNvSpPr>
          <p:nvPr/>
        </p:nvSpPr>
        <p:spPr>
          <a:xfrm>
            <a:off x="4085303" y="1096297"/>
            <a:ext cx="7973962" cy="52330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/>
          </a:p>
          <a:p>
            <a:endParaRPr lang="en-CA" dirty="0"/>
          </a:p>
          <a:p>
            <a:r>
              <a:rPr lang="en-CA" dirty="0"/>
              <a:t>Identifier et </a:t>
            </a:r>
            <a:r>
              <a:rPr lang="en-CA" dirty="0" err="1"/>
              <a:t>nettoyer</a:t>
            </a:r>
            <a:r>
              <a:rPr lang="en-CA" dirty="0"/>
              <a:t> les données null </a:t>
            </a:r>
          </a:p>
          <a:p>
            <a:pPr lvl="1"/>
            <a:r>
              <a:rPr lang="en-CA" dirty="0" err="1"/>
              <a:t>Colonne</a:t>
            </a:r>
            <a:r>
              <a:rPr lang="en-CA" dirty="0"/>
              <a:t> date fin </a:t>
            </a:r>
          </a:p>
          <a:p>
            <a:pPr lvl="1"/>
            <a:r>
              <a:rPr lang="en-CA" dirty="0" err="1"/>
              <a:t>Colonne</a:t>
            </a:r>
            <a:r>
              <a:rPr lang="en-CA" dirty="0"/>
              <a:t> cause </a:t>
            </a:r>
          </a:p>
          <a:p>
            <a:r>
              <a:rPr lang="en-CA" dirty="0" err="1"/>
              <a:t>Supprimer</a:t>
            </a:r>
            <a:r>
              <a:rPr lang="en-CA" dirty="0"/>
              <a:t> les </a:t>
            </a:r>
            <a:r>
              <a:rPr lang="en-CA" dirty="0" err="1"/>
              <a:t>lignes</a:t>
            </a:r>
            <a:r>
              <a:rPr lang="en-CA" dirty="0"/>
              <a:t> </a:t>
            </a:r>
            <a:r>
              <a:rPr lang="en-CA" dirty="0" err="1"/>
              <a:t>dupliquées</a:t>
            </a:r>
            <a:endParaRPr lang="en-CA" dirty="0"/>
          </a:p>
          <a:p>
            <a:r>
              <a:rPr lang="en-CA" dirty="0"/>
              <a:t>Transformer les </a:t>
            </a:r>
            <a:r>
              <a:rPr lang="en-CA" dirty="0" err="1"/>
              <a:t>valeurs</a:t>
            </a:r>
            <a:r>
              <a:rPr lang="en-CA" dirty="0"/>
              <a:t> </a:t>
            </a:r>
            <a:r>
              <a:rPr lang="en-CA" dirty="0" err="1"/>
              <a:t>catégoriques</a:t>
            </a:r>
            <a:r>
              <a:rPr lang="en-CA" dirty="0"/>
              <a:t> </a:t>
            </a:r>
          </a:p>
          <a:p>
            <a:r>
              <a:rPr lang="en-CA" dirty="0" err="1"/>
              <a:t>Définir</a:t>
            </a:r>
            <a:r>
              <a:rPr lang="en-CA" dirty="0"/>
              <a:t> </a:t>
            </a:r>
            <a:r>
              <a:rPr lang="en-CA" dirty="0" err="1"/>
              <a:t>une</a:t>
            </a:r>
            <a:r>
              <a:rPr lang="en-CA" dirty="0"/>
              <a:t> variable </a:t>
            </a:r>
            <a:r>
              <a:rPr lang="en-CA" dirty="0" err="1"/>
              <a:t>cible</a:t>
            </a:r>
            <a:r>
              <a:rPr lang="en-CA" dirty="0"/>
              <a:t> (durée </a:t>
            </a:r>
            <a:r>
              <a:rPr lang="en-CA" dirty="0" err="1"/>
              <a:t>d’une</a:t>
            </a:r>
            <a:r>
              <a:rPr lang="en-CA" dirty="0"/>
              <a:t> interruption </a:t>
            </a:r>
            <a:r>
              <a:rPr lang="en-CA" dirty="0" err="1"/>
              <a:t>en</a:t>
            </a:r>
            <a:r>
              <a:rPr lang="en-CA" dirty="0"/>
              <a:t> </a:t>
            </a:r>
            <a:r>
              <a:rPr lang="en-CA" dirty="0" err="1"/>
              <a:t>nombre</a:t>
            </a:r>
            <a:r>
              <a:rPr lang="en-CA" dirty="0"/>
              <a:t> </a:t>
            </a:r>
            <a:r>
              <a:rPr lang="en-CA" dirty="0" err="1"/>
              <a:t>d’heures</a:t>
            </a:r>
            <a:r>
              <a:rPr lang="en-CA" dirty="0"/>
              <a:t>) </a:t>
            </a:r>
          </a:p>
          <a:p>
            <a:r>
              <a:rPr lang="en-CA" dirty="0" err="1"/>
              <a:t>Décortiquer</a:t>
            </a:r>
            <a:r>
              <a:rPr lang="en-CA" dirty="0"/>
              <a:t> </a:t>
            </a:r>
            <a:r>
              <a:rPr lang="en-CA" dirty="0" err="1"/>
              <a:t>une</a:t>
            </a:r>
            <a:r>
              <a:rPr lang="en-CA" dirty="0"/>
              <a:t> variable (date de début)  </a:t>
            </a:r>
          </a:p>
          <a:p>
            <a:endParaRPr lang="en-CA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16776AA-7795-F360-CFCB-D80AFD688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2" y="365125"/>
            <a:ext cx="5987845" cy="1325563"/>
          </a:xfrm>
        </p:spPr>
        <p:txBody>
          <a:bodyPr/>
          <a:lstStyle/>
          <a:p>
            <a:r>
              <a:rPr lang="fr-FR" dirty="0"/>
              <a:t>Pré-traitement</a:t>
            </a:r>
            <a:endParaRPr lang="en-CA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3B73602-C6F0-1A0F-FBC0-8447843B0A02}"/>
              </a:ext>
            </a:extLst>
          </p:cNvPr>
          <p:cNvSpPr/>
          <p:nvPr/>
        </p:nvSpPr>
        <p:spPr>
          <a:xfrm>
            <a:off x="1118420" y="245807"/>
            <a:ext cx="1927122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Collecte</a:t>
            </a:r>
            <a:r>
              <a:rPr lang="en-CA" dirty="0"/>
              <a:t> de donnée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8FDBF26-EC27-E2CB-AF6E-1918A6D5A399}"/>
              </a:ext>
            </a:extLst>
          </p:cNvPr>
          <p:cNvSpPr/>
          <p:nvPr/>
        </p:nvSpPr>
        <p:spPr>
          <a:xfrm>
            <a:off x="1118420" y="1283114"/>
            <a:ext cx="1927122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EDA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5F2D7BF-29E8-1A23-3835-E377CF2F630E}"/>
              </a:ext>
            </a:extLst>
          </p:cNvPr>
          <p:cNvSpPr/>
          <p:nvPr/>
        </p:nvSpPr>
        <p:spPr>
          <a:xfrm>
            <a:off x="1118420" y="2337620"/>
            <a:ext cx="1927122" cy="78658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Pre-</a:t>
            </a:r>
            <a:r>
              <a:rPr lang="en-CA" dirty="0" err="1"/>
              <a:t>traitement</a:t>
            </a:r>
            <a:endParaRPr lang="en-CA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B35EDDE-189E-960E-5EFD-2532B3C502C3}"/>
              </a:ext>
            </a:extLst>
          </p:cNvPr>
          <p:cNvCxnSpPr>
            <a:stCxn id="26" idx="2"/>
            <a:endCxn id="27" idx="0"/>
          </p:cNvCxnSpPr>
          <p:nvPr/>
        </p:nvCxnSpPr>
        <p:spPr>
          <a:xfrm>
            <a:off x="2081981" y="1032388"/>
            <a:ext cx="0" cy="250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AA435F3-C9A9-C52E-BD26-F50C72DA3F22}"/>
              </a:ext>
            </a:extLst>
          </p:cNvPr>
          <p:cNvCxnSpPr>
            <a:stCxn id="27" idx="2"/>
            <a:endCxn id="28" idx="0"/>
          </p:cNvCxnSpPr>
          <p:nvPr/>
        </p:nvCxnSpPr>
        <p:spPr>
          <a:xfrm>
            <a:off x="2081981" y="2069695"/>
            <a:ext cx="0" cy="267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62CEAED-72A6-A52A-5C32-F76353C07115}"/>
              </a:ext>
            </a:extLst>
          </p:cNvPr>
          <p:cNvSpPr/>
          <p:nvPr/>
        </p:nvSpPr>
        <p:spPr>
          <a:xfrm>
            <a:off x="1118420" y="3408030"/>
            <a:ext cx="1927122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Modèle</a:t>
            </a:r>
            <a:endParaRPr lang="en-CA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711AF29-B600-D262-33E5-7C8BA0EB6648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>
            <a:off x="2081981" y="3124201"/>
            <a:ext cx="0" cy="283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AE3549C-F163-E95F-D5F0-548EBE2E810C}"/>
              </a:ext>
            </a:extLst>
          </p:cNvPr>
          <p:cNvSpPr/>
          <p:nvPr/>
        </p:nvSpPr>
        <p:spPr>
          <a:xfrm>
            <a:off x="1118420" y="4478440"/>
            <a:ext cx="1927122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Evaluation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1F3A159-940A-AEF8-3272-1DCB6EB930B7}"/>
              </a:ext>
            </a:extLst>
          </p:cNvPr>
          <p:cNvCxnSpPr>
            <a:cxnSpLocks/>
            <a:stCxn id="31" idx="2"/>
            <a:endCxn id="33" idx="0"/>
          </p:cNvCxnSpPr>
          <p:nvPr/>
        </p:nvCxnSpPr>
        <p:spPr>
          <a:xfrm>
            <a:off x="2081981" y="4194611"/>
            <a:ext cx="0" cy="283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46E7441-A754-A26E-C59C-F5C4AE47BF48}"/>
              </a:ext>
            </a:extLst>
          </p:cNvPr>
          <p:cNvSpPr/>
          <p:nvPr/>
        </p:nvSpPr>
        <p:spPr>
          <a:xfrm>
            <a:off x="1118420" y="5942137"/>
            <a:ext cx="1927122" cy="78658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Deploiement</a:t>
            </a:r>
            <a:endParaRPr lang="en-CA" dirty="0"/>
          </a:p>
        </p:txBody>
      </p:sp>
      <p:sp>
        <p:nvSpPr>
          <p:cNvPr id="36" name="Flowchart: Decision 35">
            <a:extLst>
              <a:ext uri="{FF2B5EF4-FFF2-40B4-BE49-F238E27FC236}">
                <a16:creationId xmlns:a16="http://schemas.microsoft.com/office/drawing/2014/main" id="{9FC2D216-5865-0915-C580-DE0D34C3645B}"/>
              </a:ext>
            </a:extLst>
          </p:cNvPr>
          <p:cNvSpPr/>
          <p:nvPr/>
        </p:nvSpPr>
        <p:spPr>
          <a:xfrm>
            <a:off x="1531376" y="5315909"/>
            <a:ext cx="1101209" cy="575340"/>
          </a:xfrm>
          <a:prstGeom prst="flowChartDecisio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-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30442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B0789-3FAB-D862-0ABB-5B9BACF79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779B0DB-2F07-343D-CDAA-A35B658D0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3" y="943897"/>
            <a:ext cx="7973962" cy="5233065"/>
          </a:xfrm>
        </p:spPr>
        <p:txBody>
          <a:bodyPr/>
          <a:lstStyle/>
          <a:p>
            <a:pPr lvl="1"/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9" name="Content Placeholder 3" descr="Logo Hydro-Québec">
            <a:extLst>
              <a:ext uri="{FF2B5EF4-FFF2-40B4-BE49-F238E27FC236}">
                <a16:creationId xmlns:a16="http://schemas.microsoft.com/office/drawing/2014/main" id="{0AF2A525-5648-B62C-14BA-4A2E954F4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0747" y="170330"/>
            <a:ext cx="1651819" cy="135500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E6A571B-F02A-4E12-BF97-465540D6C326}"/>
              </a:ext>
            </a:extLst>
          </p:cNvPr>
          <p:cNvSpPr txBox="1">
            <a:spLocks/>
          </p:cNvSpPr>
          <p:nvPr/>
        </p:nvSpPr>
        <p:spPr>
          <a:xfrm>
            <a:off x="4085303" y="1096297"/>
            <a:ext cx="7973962" cy="52330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/>
          </a:p>
          <a:p>
            <a:endParaRPr lang="en-CA" dirty="0"/>
          </a:p>
          <a:p>
            <a:r>
              <a:rPr lang="en-CA" dirty="0"/>
              <a:t>Regression </a:t>
            </a:r>
            <a:r>
              <a:rPr lang="en-CA" dirty="0" err="1"/>
              <a:t>linéaire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Variables </a:t>
            </a:r>
            <a:r>
              <a:rPr lang="en-CA" dirty="0" err="1"/>
              <a:t>cible</a:t>
            </a:r>
            <a:r>
              <a:rPr lang="en-CA" dirty="0"/>
              <a:t> </a:t>
            </a:r>
            <a:r>
              <a:rPr lang="en-CA" dirty="0" err="1"/>
              <a:t>numériques</a:t>
            </a:r>
            <a:r>
              <a:rPr lang="en-CA" dirty="0"/>
              <a:t> </a:t>
            </a:r>
          </a:p>
          <a:p>
            <a:pPr lvl="1"/>
            <a:r>
              <a:rPr lang="en-CA" dirty="0" err="1"/>
              <a:t>Codage</a:t>
            </a:r>
            <a:r>
              <a:rPr lang="en-CA" dirty="0"/>
              <a:t> des variables </a:t>
            </a:r>
            <a:r>
              <a:rPr lang="en-CA" dirty="0" err="1"/>
              <a:t>catégoriques</a:t>
            </a:r>
            <a:r>
              <a:rPr lang="en-CA" dirty="0"/>
              <a:t> </a:t>
            </a:r>
          </a:p>
          <a:p>
            <a:pPr lvl="1"/>
            <a:r>
              <a:rPr lang="en-CA" dirty="0"/>
              <a:t>Suppression de </a:t>
            </a:r>
            <a:r>
              <a:rPr lang="en-CA" dirty="0" err="1"/>
              <a:t>valeurs</a:t>
            </a:r>
            <a:r>
              <a:rPr lang="en-CA" dirty="0"/>
              <a:t> </a:t>
            </a:r>
            <a:r>
              <a:rPr lang="en-CA" dirty="0" err="1"/>
              <a:t>nulles</a:t>
            </a:r>
            <a:endParaRPr lang="en-CA" dirty="0"/>
          </a:p>
          <a:p>
            <a:r>
              <a:rPr lang="en-CA" dirty="0"/>
              <a:t>H2OAutoml - </a:t>
            </a:r>
            <a:r>
              <a:rPr lang="en-CA" dirty="0" err="1"/>
              <a:t>XGBoost</a:t>
            </a:r>
            <a:r>
              <a:rPr lang="en-CA" dirty="0"/>
              <a:t> </a:t>
            </a:r>
          </a:p>
          <a:p>
            <a:pPr lvl="1"/>
            <a:r>
              <a:rPr lang="en-CA" dirty="0"/>
              <a:t>Variable </a:t>
            </a:r>
            <a:r>
              <a:rPr lang="en-CA" dirty="0" err="1"/>
              <a:t>cible</a:t>
            </a:r>
            <a:r>
              <a:rPr lang="en-CA" dirty="0"/>
              <a:t> numérique </a:t>
            </a:r>
          </a:p>
          <a:p>
            <a:pPr lvl="1"/>
            <a:r>
              <a:rPr lang="en-CA" dirty="0"/>
              <a:t>Acceptation de variable </a:t>
            </a:r>
            <a:r>
              <a:rPr lang="en-CA" dirty="0" err="1"/>
              <a:t>catégorique</a:t>
            </a:r>
            <a:endParaRPr lang="en-CA" dirty="0"/>
          </a:p>
          <a:p>
            <a:endParaRPr lang="en-CA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5F2EB5F-6C66-CE2B-63C8-A057181C7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2" y="365125"/>
            <a:ext cx="5987845" cy="1325563"/>
          </a:xfrm>
        </p:spPr>
        <p:txBody>
          <a:bodyPr/>
          <a:lstStyle/>
          <a:p>
            <a:r>
              <a:rPr lang="fr-FR" dirty="0"/>
              <a:t>Choix du modèle</a:t>
            </a:r>
            <a:endParaRPr lang="en-CA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5A2428C-3891-2597-A9EC-1035B3F3310D}"/>
              </a:ext>
            </a:extLst>
          </p:cNvPr>
          <p:cNvSpPr/>
          <p:nvPr/>
        </p:nvSpPr>
        <p:spPr>
          <a:xfrm>
            <a:off x="1118420" y="245807"/>
            <a:ext cx="1927122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Collecte</a:t>
            </a:r>
            <a:r>
              <a:rPr lang="en-CA" dirty="0"/>
              <a:t> de donnée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E6CAF6-842E-44B0-ED01-3322A9FF74D2}"/>
              </a:ext>
            </a:extLst>
          </p:cNvPr>
          <p:cNvSpPr/>
          <p:nvPr/>
        </p:nvSpPr>
        <p:spPr>
          <a:xfrm>
            <a:off x="1118420" y="1283114"/>
            <a:ext cx="1927122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EDA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ABDE6A6-ECDA-0DA2-CED9-FA2579956E48}"/>
              </a:ext>
            </a:extLst>
          </p:cNvPr>
          <p:cNvSpPr/>
          <p:nvPr/>
        </p:nvSpPr>
        <p:spPr>
          <a:xfrm>
            <a:off x="1118420" y="2337620"/>
            <a:ext cx="1927122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Pre-</a:t>
            </a:r>
            <a:r>
              <a:rPr lang="en-CA" dirty="0" err="1"/>
              <a:t>traitement</a:t>
            </a:r>
            <a:endParaRPr lang="en-CA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150E830-9FEA-EE62-8F61-BC31688DDE89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>
            <a:off x="2081981" y="1032388"/>
            <a:ext cx="0" cy="250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E2FC1B2-1E45-0B9C-7C41-607D01CE13EF}"/>
              </a:ext>
            </a:extLst>
          </p:cNvPr>
          <p:cNvCxnSpPr>
            <a:stCxn id="23" idx="2"/>
            <a:endCxn id="24" idx="0"/>
          </p:cNvCxnSpPr>
          <p:nvPr/>
        </p:nvCxnSpPr>
        <p:spPr>
          <a:xfrm>
            <a:off x="2081981" y="2069695"/>
            <a:ext cx="0" cy="267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90190A4-A4CD-C256-C1D8-CA2BAB2574C8}"/>
              </a:ext>
            </a:extLst>
          </p:cNvPr>
          <p:cNvSpPr/>
          <p:nvPr/>
        </p:nvSpPr>
        <p:spPr>
          <a:xfrm>
            <a:off x="1118420" y="3408030"/>
            <a:ext cx="1927122" cy="78658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 err="1"/>
              <a:t>Modèle</a:t>
            </a:r>
            <a:endParaRPr lang="en-CA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47FD362-5915-FCCF-BACD-515C047FAC07}"/>
              </a:ext>
            </a:extLst>
          </p:cNvPr>
          <p:cNvCxnSpPr>
            <a:cxnSpLocks/>
            <a:stCxn id="24" idx="2"/>
            <a:endCxn id="27" idx="0"/>
          </p:cNvCxnSpPr>
          <p:nvPr/>
        </p:nvCxnSpPr>
        <p:spPr>
          <a:xfrm>
            <a:off x="2081981" y="3124201"/>
            <a:ext cx="0" cy="283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5DA34A3-3A7B-FE87-A2EC-A8A6F83D138D}"/>
              </a:ext>
            </a:extLst>
          </p:cNvPr>
          <p:cNvSpPr/>
          <p:nvPr/>
        </p:nvSpPr>
        <p:spPr>
          <a:xfrm>
            <a:off x="1118420" y="4478440"/>
            <a:ext cx="1927122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Evaluation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204F01C-9295-AE21-C26A-4CD763EEDF96}"/>
              </a:ext>
            </a:extLst>
          </p:cNvPr>
          <p:cNvCxnSpPr>
            <a:cxnSpLocks/>
            <a:stCxn id="27" idx="2"/>
            <a:endCxn id="29" idx="0"/>
          </p:cNvCxnSpPr>
          <p:nvPr/>
        </p:nvCxnSpPr>
        <p:spPr>
          <a:xfrm>
            <a:off x="2081981" y="4194611"/>
            <a:ext cx="0" cy="283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9024657-A8E9-1FC4-6D28-606CDDA72CE2}"/>
              </a:ext>
            </a:extLst>
          </p:cNvPr>
          <p:cNvSpPr/>
          <p:nvPr/>
        </p:nvSpPr>
        <p:spPr>
          <a:xfrm>
            <a:off x="1118420" y="5942137"/>
            <a:ext cx="1927122" cy="78658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Deploiement</a:t>
            </a:r>
            <a:endParaRPr lang="en-CA" dirty="0"/>
          </a:p>
        </p:txBody>
      </p:sp>
      <p:sp>
        <p:nvSpPr>
          <p:cNvPr id="32" name="Flowchart: Decision 31">
            <a:extLst>
              <a:ext uri="{FF2B5EF4-FFF2-40B4-BE49-F238E27FC236}">
                <a16:creationId xmlns:a16="http://schemas.microsoft.com/office/drawing/2014/main" id="{AEED9E76-FA2D-7DD8-507C-19769C28DBFA}"/>
              </a:ext>
            </a:extLst>
          </p:cNvPr>
          <p:cNvSpPr/>
          <p:nvPr/>
        </p:nvSpPr>
        <p:spPr>
          <a:xfrm>
            <a:off x="1531376" y="5315909"/>
            <a:ext cx="1101209" cy="575340"/>
          </a:xfrm>
          <a:prstGeom prst="flowChartDecisio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-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12816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19FCA-00BA-971D-CECA-39B50D1DD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5EF3E09-F451-97A6-FEC3-5B65275CB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3" y="943897"/>
            <a:ext cx="7973962" cy="5233065"/>
          </a:xfrm>
        </p:spPr>
        <p:txBody>
          <a:bodyPr/>
          <a:lstStyle/>
          <a:p>
            <a:pPr lvl="1"/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9" name="Content Placeholder 3" descr="Logo Hydro-Québec">
            <a:extLst>
              <a:ext uri="{FF2B5EF4-FFF2-40B4-BE49-F238E27FC236}">
                <a16:creationId xmlns:a16="http://schemas.microsoft.com/office/drawing/2014/main" id="{A83DF5C3-5896-8A45-6016-603A32188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0747" y="170330"/>
            <a:ext cx="1651819" cy="135500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1F9748-E796-7E7F-F9F6-666BBA7AEFEA}"/>
              </a:ext>
            </a:extLst>
          </p:cNvPr>
          <p:cNvSpPr txBox="1">
            <a:spLocks/>
          </p:cNvSpPr>
          <p:nvPr/>
        </p:nvSpPr>
        <p:spPr>
          <a:xfrm>
            <a:off x="4085303" y="1096297"/>
            <a:ext cx="7973962" cy="52330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/>
          </a:p>
          <a:p>
            <a:endParaRPr lang="en-CA" dirty="0"/>
          </a:p>
          <a:p>
            <a:r>
              <a:rPr lang="en-CA" dirty="0"/>
              <a:t>MAE: mean absolute error</a:t>
            </a:r>
          </a:p>
          <a:p>
            <a:r>
              <a:rPr lang="en-CA" dirty="0"/>
              <a:t>RMSE: Root mean squared error</a:t>
            </a:r>
          </a:p>
          <a:p>
            <a:r>
              <a:rPr lang="en-CA" dirty="0"/>
              <a:t>R squared</a:t>
            </a:r>
          </a:p>
          <a:p>
            <a:endParaRPr lang="en-CA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28E199F-49F9-42BA-D74B-6E350F427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2" y="365125"/>
            <a:ext cx="5987845" cy="1325563"/>
          </a:xfrm>
        </p:spPr>
        <p:txBody>
          <a:bodyPr/>
          <a:lstStyle/>
          <a:p>
            <a:r>
              <a:rPr lang="fr-FR" dirty="0"/>
              <a:t>Evaluation</a:t>
            </a:r>
            <a:endParaRPr lang="en-CA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24A1B38-3405-694C-B24E-A8DDAB2AF14A}"/>
              </a:ext>
            </a:extLst>
          </p:cNvPr>
          <p:cNvSpPr/>
          <p:nvPr/>
        </p:nvSpPr>
        <p:spPr>
          <a:xfrm>
            <a:off x="1118420" y="245807"/>
            <a:ext cx="1927122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Collecte</a:t>
            </a:r>
            <a:r>
              <a:rPr lang="en-CA" dirty="0"/>
              <a:t> de donnée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588AAB4-A53F-7AD3-11EC-7ABBF45A966F}"/>
              </a:ext>
            </a:extLst>
          </p:cNvPr>
          <p:cNvSpPr/>
          <p:nvPr/>
        </p:nvSpPr>
        <p:spPr>
          <a:xfrm>
            <a:off x="1118420" y="1283114"/>
            <a:ext cx="1927122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EDA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1CA6088-0A4D-42DE-1881-967B71D6D6F9}"/>
              </a:ext>
            </a:extLst>
          </p:cNvPr>
          <p:cNvSpPr/>
          <p:nvPr/>
        </p:nvSpPr>
        <p:spPr>
          <a:xfrm>
            <a:off x="1118420" y="2337620"/>
            <a:ext cx="1927122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Pre-</a:t>
            </a:r>
            <a:r>
              <a:rPr lang="en-CA" dirty="0" err="1"/>
              <a:t>traitement</a:t>
            </a:r>
            <a:endParaRPr lang="en-CA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BFEA315-D795-65B8-4EF5-43028D4BC7FF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2081981" y="1032388"/>
            <a:ext cx="0" cy="250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D1DF58F-220D-5130-941F-1A391246F880}"/>
              </a:ext>
            </a:extLst>
          </p:cNvPr>
          <p:cNvCxnSpPr>
            <a:stCxn id="19" idx="2"/>
            <a:endCxn id="20" idx="0"/>
          </p:cNvCxnSpPr>
          <p:nvPr/>
        </p:nvCxnSpPr>
        <p:spPr>
          <a:xfrm>
            <a:off x="2081981" y="2069695"/>
            <a:ext cx="0" cy="267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E79016E-6627-C58E-30BF-FA563A7E2AC9}"/>
              </a:ext>
            </a:extLst>
          </p:cNvPr>
          <p:cNvSpPr/>
          <p:nvPr/>
        </p:nvSpPr>
        <p:spPr>
          <a:xfrm>
            <a:off x="1118420" y="3408030"/>
            <a:ext cx="1927122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Modèle</a:t>
            </a:r>
            <a:endParaRPr lang="en-CA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DC15A0E-402B-05BA-BEDB-995159227CE8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>
            <a:off x="2081981" y="3124201"/>
            <a:ext cx="0" cy="283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A1F1962-1ACD-41C9-E1D6-14DB7A24C0D2}"/>
              </a:ext>
            </a:extLst>
          </p:cNvPr>
          <p:cNvSpPr/>
          <p:nvPr/>
        </p:nvSpPr>
        <p:spPr>
          <a:xfrm>
            <a:off x="1118420" y="4478440"/>
            <a:ext cx="1927122" cy="78658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Evaluation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50BE3BC-0D37-A5B9-52EE-772FACB1786D}"/>
              </a:ext>
            </a:extLst>
          </p:cNvPr>
          <p:cNvCxnSpPr>
            <a:cxnSpLocks/>
            <a:stCxn id="23" idx="2"/>
            <a:endCxn id="25" idx="0"/>
          </p:cNvCxnSpPr>
          <p:nvPr/>
        </p:nvCxnSpPr>
        <p:spPr>
          <a:xfrm>
            <a:off x="2081981" y="4194611"/>
            <a:ext cx="0" cy="283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D352D9B-4E5D-1453-ABA5-D63CAFD3112B}"/>
              </a:ext>
            </a:extLst>
          </p:cNvPr>
          <p:cNvSpPr/>
          <p:nvPr/>
        </p:nvSpPr>
        <p:spPr>
          <a:xfrm>
            <a:off x="1118420" y="5942137"/>
            <a:ext cx="1927122" cy="78658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Deploiement</a:t>
            </a:r>
            <a:endParaRPr lang="en-CA" dirty="0"/>
          </a:p>
        </p:txBody>
      </p:sp>
      <p:sp>
        <p:nvSpPr>
          <p:cNvPr id="28" name="Flowchart: Decision 27">
            <a:extLst>
              <a:ext uri="{FF2B5EF4-FFF2-40B4-BE49-F238E27FC236}">
                <a16:creationId xmlns:a16="http://schemas.microsoft.com/office/drawing/2014/main" id="{2F17D8FC-CB7D-B87C-4708-E7F668E2B85F}"/>
              </a:ext>
            </a:extLst>
          </p:cNvPr>
          <p:cNvSpPr/>
          <p:nvPr/>
        </p:nvSpPr>
        <p:spPr>
          <a:xfrm>
            <a:off x="1531376" y="5315909"/>
            <a:ext cx="1101209" cy="575340"/>
          </a:xfrm>
          <a:prstGeom prst="flowChartDecisio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-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186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53C17-BFD1-D695-8FAF-78A7CBE78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4FDB63E-F90E-198F-51EE-88AB492187AB}"/>
              </a:ext>
            </a:extLst>
          </p:cNvPr>
          <p:cNvSpPr/>
          <p:nvPr/>
        </p:nvSpPr>
        <p:spPr>
          <a:xfrm>
            <a:off x="1118420" y="245807"/>
            <a:ext cx="1927122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Collecte</a:t>
            </a:r>
            <a:r>
              <a:rPr lang="en-CA" dirty="0"/>
              <a:t> de donnée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FFB99D5-E1F0-10E3-CF18-69C64AC0F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3" y="943897"/>
            <a:ext cx="7973962" cy="5233065"/>
          </a:xfrm>
        </p:spPr>
        <p:txBody>
          <a:bodyPr/>
          <a:lstStyle/>
          <a:p>
            <a:pPr lvl="1"/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9" name="Content Placeholder 3" descr="Logo Hydro-Québec">
            <a:extLst>
              <a:ext uri="{FF2B5EF4-FFF2-40B4-BE49-F238E27FC236}">
                <a16:creationId xmlns:a16="http://schemas.microsoft.com/office/drawing/2014/main" id="{4E970F90-F278-7170-B172-1D75784B7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0747" y="170330"/>
            <a:ext cx="1651819" cy="135500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EA3BE72-18D3-A83A-5212-E5A5881DFABC}"/>
              </a:ext>
            </a:extLst>
          </p:cNvPr>
          <p:cNvSpPr txBox="1">
            <a:spLocks/>
          </p:cNvSpPr>
          <p:nvPr/>
        </p:nvSpPr>
        <p:spPr>
          <a:xfrm>
            <a:off x="4085303" y="1096297"/>
            <a:ext cx="7973962" cy="52330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/>
          </a:p>
          <a:p>
            <a:endParaRPr lang="en-CA" dirty="0"/>
          </a:p>
          <a:p>
            <a:r>
              <a:rPr lang="en-CA" dirty="0" err="1"/>
              <a:t>Selon</a:t>
            </a:r>
            <a:r>
              <a:rPr lang="en-CA" dirty="0"/>
              <a:t> </a:t>
            </a:r>
            <a:r>
              <a:rPr lang="en-CA" dirty="0" err="1"/>
              <a:t>l’évaluation</a:t>
            </a:r>
            <a:r>
              <a:rPr lang="en-CA" dirty="0"/>
              <a:t> du </a:t>
            </a:r>
            <a:r>
              <a:rPr lang="en-CA" dirty="0" err="1"/>
              <a:t>modèle</a:t>
            </a:r>
            <a:r>
              <a:rPr lang="en-CA" dirty="0"/>
              <a:t> la decision est :</a:t>
            </a:r>
          </a:p>
          <a:p>
            <a:endParaRPr lang="en-CA" dirty="0"/>
          </a:p>
          <a:p>
            <a:endParaRPr lang="en-CA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D098CAF-D305-F12C-5D4F-FCEE95666FC0}"/>
              </a:ext>
            </a:extLst>
          </p:cNvPr>
          <p:cNvSpPr/>
          <p:nvPr/>
        </p:nvSpPr>
        <p:spPr>
          <a:xfrm>
            <a:off x="1118420" y="1283114"/>
            <a:ext cx="1927122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EDA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B0110F7-8E05-3D80-B159-EAD889F9AEF1}"/>
              </a:ext>
            </a:extLst>
          </p:cNvPr>
          <p:cNvSpPr/>
          <p:nvPr/>
        </p:nvSpPr>
        <p:spPr>
          <a:xfrm>
            <a:off x="1118420" y="2337620"/>
            <a:ext cx="1927122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Pre-</a:t>
            </a:r>
            <a:r>
              <a:rPr lang="en-CA" dirty="0" err="1"/>
              <a:t>traitement</a:t>
            </a:r>
            <a:endParaRPr lang="en-CA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F863418-09E3-CF57-3F1A-896E7FE3D4B5}"/>
              </a:ext>
            </a:extLst>
          </p:cNvPr>
          <p:cNvCxnSpPr>
            <a:stCxn id="4" idx="2"/>
            <a:endCxn id="10" idx="0"/>
          </p:cNvCxnSpPr>
          <p:nvPr/>
        </p:nvCxnSpPr>
        <p:spPr>
          <a:xfrm>
            <a:off x="2081981" y="1032388"/>
            <a:ext cx="0" cy="250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35B83D-1829-E628-56B2-27DA30312A4A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>
            <a:off x="2081981" y="2069695"/>
            <a:ext cx="0" cy="267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28DE5F41-BCDC-9327-A93A-E93C81D8D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2" y="365125"/>
            <a:ext cx="5987845" cy="1325563"/>
          </a:xfrm>
        </p:spPr>
        <p:txBody>
          <a:bodyPr/>
          <a:lstStyle/>
          <a:p>
            <a:r>
              <a:rPr lang="fr-FR" dirty="0"/>
              <a:t>Deploiement</a:t>
            </a:r>
            <a:endParaRPr lang="en-CA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6F8E57-851E-CD9D-3B88-08C44DAB2035}"/>
              </a:ext>
            </a:extLst>
          </p:cNvPr>
          <p:cNvSpPr/>
          <p:nvPr/>
        </p:nvSpPr>
        <p:spPr>
          <a:xfrm>
            <a:off x="1118420" y="3408030"/>
            <a:ext cx="1927122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Modèle</a:t>
            </a:r>
            <a:endParaRPr lang="en-CA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A1937D-B18F-88C9-E09F-DC78ACB14042}"/>
              </a:ext>
            </a:extLst>
          </p:cNvPr>
          <p:cNvCxnSpPr>
            <a:cxnSpLocks/>
            <a:stCxn id="12" idx="2"/>
            <a:endCxn id="7" idx="0"/>
          </p:cNvCxnSpPr>
          <p:nvPr/>
        </p:nvCxnSpPr>
        <p:spPr>
          <a:xfrm>
            <a:off x="2081981" y="3124201"/>
            <a:ext cx="0" cy="283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3570899-246A-AA08-2EE9-BB8B027913B4}"/>
              </a:ext>
            </a:extLst>
          </p:cNvPr>
          <p:cNvSpPr/>
          <p:nvPr/>
        </p:nvSpPr>
        <p:spPr>
          <a:xfrm>
            <a:off x="1118420" y="4478440"/>
            <a:ext cx="1927122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Evaluation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C0AE678-B976-D2CB-B779-274E0912FD80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>
            <a:off x="2081981" y="4194611"/>
            <a:ext cx="0" cy="283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ABEEA95-593A-5468-0E62-E7F3905307F2}"/>
              </a:ext>
            </a:extLst>
          </p:cNvPr>
          <p:cNvSpPr/>
          <p:nvPr/>
        </p:nvSpPr>
        <p:spPr>
          <a:xfrm>
            <a:off x="1118420" y="5942137"/>
            <a:ext cx="1927122" cy="78658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Deploiement</a:t>
            </a:r>
            <a:endParaRPr lang="en-CA" dirty="0"/>
          </a:p>
        </p:txBody>
      </p:sp>
      <p:sp>
        <p:nvSpPr>
          <p:cNvPr id="14" name="Flowchart: Decision 13">
            <a:extLst>
              <a:ext uri="{FF2B5EF4-FFF2-40B4-BE49-F238E27FC236}">
                <a16:creationId xmlns:a16="http://schemas.microsoft.com/office/drawing/2014/main" id="{FBA91566-B793-8B18-4472-35A3F5A3168D}"/>
              </a:ext>
            </a:extLst>
          </p:cNvPr>
          <p:cNvSpPr/>
          <p:nvPr/>
        </p:nvSpPr>
        <p:spPr>
          <a:xfrm>
            <a:off x="1531376" y="5315909"/>
            <a:ext cx="1101209" cy="575340"/>
          </a:xfrm>
          <a:prstGeom prst="flowChartDecisio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dirty="0"/>
              <a:t>non</a:t>
            </a:r>
            <a:endParaRPr lang="en-CA" sz="1600" dirty="0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79588A16-8282-E5B7-A36E-4061E8C4B7E0}"/>
              </a:ext>
            </a:extLst>
          </p:cNvPr>
          <p:cNvCxnSpPr>
            <a:stCxn id="14" idx="1"/>
            <a:endCxn id="12" idx="1"/>
          </p:cNvCxnSpPr>
          <p:nvPr/>
        </p:nvCxnSpPr>
        <p:spPr>
          <a:xfrm rot="10800000">
            <a:off x="1118420" y="2730911"/>
            <a:ext cx="412956" cy="2872668"/>
          </a:xfrm>
          <a:prstGeom prst="bentConnector3">
            <a:avLst>
              <a:gd name="adj1" fmla="val 28154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CFD68930-1A80-595D-7D14-3603C02F8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065" y="2798887"/>
            <a:ext cx="457200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89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D3119-EA80-FE85-5651-C98587F6E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Pourquoi</a:t>
            </a:r>
            <a:r>
              <a:rPr lang="en-CA" dirty="0"/>
              <a:t> ne pas deployer 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8FA68-D9CF-DC27-A34A-38ED343F4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De 5000 </a:t>
            </a:r>
            <a:r>
              <a:rPr lang="en-CA" dirty="0" err="1"/>
              <a:t>lignes</a:t>
            </a:r>
            <a:r>
              <a:rPr lang="en-CA" dirty="0"/>
              <a:t> a 350 après </a:t>
            </a:r>
            <a:r>
              <a:rPr lang="en-CA" dirty="0" err="1"/>
              <a:t>nettoyages</a:t>
            </a:r>
            <a:r>
              <a:rPr lang="en-CA" dirty="0"/>
              <a:t> </a:t>
            </a:r>
          </a:p>
          <a:p>
            <a:r>
              <a:rPr lang="en-CA" dirty="0"/>
              <a:t>Faire le choix entre </a:t>
            </a:r>
            <a:r>
              <a:rPr lang="en-CA" dirty="0" err="1"/>
              <a:t>certaines</a:t>
            </a:r>
            <a:r>
              <a:rPr lang="en-CA" dirty="0"/>
              <a:t> variables du </a:t>
            </a:r>
            <a:r>
              <a:rPr lang="en-CA" dirty="0" err="1"/>
              <a:t>modèle</a:t>
            </a:r>
            <a:r>
              <a:rPr lang="en-CA" dirty="0"/>
              <a:t> </a:t>
            </a:r>
          </a:p>
          <a:p>
            <a:pPr lvl="1"/>
            <a:r>
              <a:rPr lang="en-CA" dirty="0"/>
              <a:t>Latitude longitude </a:t>
            </a:r>
          </a:p>
          <a:p>
            <a:pPr lvl="1"/>
            <a:r>
              <a:rPr lang="en-CA" dirty="0" err="1"/>
              <a:t>Id_municipalité</a:t>
            </a:r>
            <a:r>
              <a:rPr lang="en-CA" dirty="0"/>
              <a:t> </a:t>
            </a:r>
          </a:p>
          <a:p>
            <a:r>
              <a:rPr lang="en-CA" dirty="0"/>
              <a:t>Il faut </a:t>
            </a:r>
            <a:r>
              <a:rPr lang="en-CA" dirty="0" err="1"/>
              <a:t>traiter</a:t>
            </a:r>
            <a:r>
              <a:rPr lang="en-CA" dirty="0"/>
              <a:t> les variables latitudes longitudes</a:t>
            </a:r>
          </a:p>
          <a:p>
            <a:r>
              <a:rPr lang="en-CA" dirty="0" err="1"/>
              <a:t>Regrouper</a:t>
            </a:r>
            <a:r>
              <a:rPr lang="en-CA" dirty="0"/>
              <a:t> les causes par category au lieu de code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14733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6D964-15C9-B9B4-060A-B37E721D0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8C078-4EF7-23B9-37E9-2352D0693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F321C-4085-CCC4-59A3-0039B86A7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Etude théorique du problème</a:t>
            </a:r>
          </a:p>
          <a:p>
            <a:pPr lvl="1"/>
            <a:r>
              <a:rPr lang="fr-FR" dirty="0"/>
              <a:t>Collecte de donnée </a:t>
            </a:r>
          </a:p>
          <a:p>
            <a:pPr lvl="1"/>
            <a:r>
              <a:rPr lang="fr-FR" dirty="0"/>
              <a:t>EDA</a:t>
            </a:r>
          </a:p>
          <a:p>
            <a:pPr lvl="1"/>
            <a:r>
              <a:rPr lang="fr-FR" dirty="0"/>
              <a:t>Pré-traitement </a:t>
            </a:r>
          </a:p>
          <a:p>
            <a:pPr lvl="1"/>
            <a:r>
              <a:rPr lang="en-CA" dirty="0"/>
              <a:t>Choix du </a:t>
            </a:r>
            <a:r>
              <a:rPr lang="en-CA" dirty="0" err="1"/>
              <a:t>modèle</a:t>
            </a:r>
            <a:r>
              <a:rPr lang="en-CA" dirty="0"/>
              <a:t> </a:t>
            </a:r>
          </a:p>
          <a:p>
            <a:pPr lvl="1"/>
            <a:r>
              <a:rPr lang="en-CA" dirty="0"/>
              <a:t>Evaluation </a:t>
            </a:r>
          </a:p>
          <a:p>
            <a:pPr lvl="1"/>
            <a:r>
              <a:rPr lang="en-CA" dirty="0"/>
              <a:t>Decision </a:t>
            </a:r>
          </a:p>
          <a:p>
            <a:r>
              <a:rPr lang="en-CA" dirty="0">
                <a:highlight>
                  <a:srgbClr val="C0C0C0"/>
                </a:highlight>
              </a:rPr>
              <a:t>Solution mise </a:t>
            </a:r>
            <a:r>
              <a:rPr lang="en-CA" dirty="0" err="1">
                <a:highlight>
                  <a:srgbClr val="C0C0C0"/>
                </a:highlight>
              </a:rPr>
              <a:t>en</a:t>
            </a:r>
            <a:r>
              <a:rPr lang="en-CA" dirty="0">
                <a:highlight>
                  <a:srgbClr val="C0C0C0"/>
                </a:highlight>
              </a:rPr>
              <a:t> place  </a:t>
            </a:r>
          </a:p>
          <a:p>
            <a:pPr lvl="1"/>
            <a:r>
              <a:rPr lang="en-CA" dirty="0" err="1"/>
              <a:t>Composante</a:t>
            </a:r>
            <a:r>
              <a:rPr lang="en-CA" dirty="0"/>
              <a:t> </a:t>
            </a:r>
            <a:r>
              <a:rPr lang="en-CA" dirty="0" err="1"/>
              <a:t>implémentées</a:t>
            </a:r>
            <a:endParaRPr lang="en-CA" dirty="0"/>
          </a:p>
          <a:p>
            <a:pPr lvl="1"/>
            <a:r>
              <a:rPr lang="en-CA" dirty="0"/>
              <a:t>Technologies </a:t>
            </a:r>
            <a:r>
              <a:rPr lang="en-CA" dirty="0" err="1"/>
              <a:t>utilisées</a:t>
            </a:r>
            <a:r>
              <a:rPr lang="en-CA" dirty="0"/>
              <a:t> </a:t>
            </a:r>
          </a:p>
          <a:p>
            <a:pPr lvl="1"/>
            <a:r>
              <a:rPr lang="en-CA" dirty="0"/>
              <a:t>Print screen </a:t>
            </a:r>
            <a:r>
              <a:rPr lang="en-CA" dirty="0" err="1"/>
              <a:t>d’exécution</a:t>
            </a:r>
            <a:endParaRPr lang="en-CA" dirty="0"/>
          </a:p>
          <a:p>
            <a:r>
              <a:rPr lang="en-CA" dirty="0" err="1"/>
              <a:t>Prochainements</a:t>
            </a:r>
            <a:r>
              <a:rPr lang="en-CA" dirty="0"/>
              <a:t> ? </a:t>
            </a:r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14719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5AE86618-411A-11BE-8832-FC4C16B50E0F}"/>
              </a:ext>
            </a:extLst>
          </p:cNvPr>
          <p:cNvSpPr/>
          <p:nvPr/>
        </p:nvSpPr>
        <p:spPr>
          <a:xfrm>
            <a:off x="7984066" y="2597434"/>
            <a:ext cx="1540933" cy="1608666"/>
          </a:xfrm>
          <a:prstGeom prst="flowChartMagneticDisk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Database</a:t>
            </a:r>
          </a:p>
        </p:txBody>
      </p:sp>
      <p:sp>
        <p:nvSpPr>
          <p:cNvPr id="9" name="Lightning Bolt 8">
            <a:extLst>
              <a:ext uri="{FF2B5EF4-FFF2-40B4-BE49-F238E27FC236}">
                <a16:creationId xmlns:a16="http://schemas.microsoft.com/office/drawing/2014/main" id="{3C2B9955-FDE3-2123-208A-7E46A6400683}"/>
              </a:ext>
            </a:extLst>
          </p:cNvPr>
          <p:cNvSpPr/>
          <p:nvPr/>
        </p:nvSpPr>
        <p:spPr>
          <a:xfrm rot="899964">
            <a:off x="10414000" y="1634067"/>
            <a:ext cx="905933" cy="2387600"/>
          </a:xfrm>
          <a:prstGeom prst="lightningBol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D112E4-147E-AF1D-D1F2-2B0BB576E2EF}"/>
              </a:ext>
            </a:extLst>
          </p:cNvPr>
          <p:cNvSpPr txBox="1"/>
          <p:nvPr/>
        </p:nvSpPr>
        <p:spPr>
          <a:xfrm>
            <a:off x="10120467" y="4402667"/>
            <a:ext cx="1612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Hydro-</a:t>
            </a:r>
            <a:r>
              <a:rPr lang="en-CA" dirty="0" err="1"/>
              <a:t>quebec</a:t>
            </a:r>
            <a:endParaRPr lang="en-CA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9151A12-9A76-4E9E-047F-01B5CC697288}"/>
              </a:ext>
            </a:extLst>
          </p:cNvPr>
          <p:cNvSpPr/>
          <p:nvPr/>
        </p:nvSpPr>
        <p:spPr>
          <a:xfrm>
            <a:off x="6342149" y="918791"/>
            <a:ext cx="2207889" cy="770109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Service de </a:t>
            </a:r>
            <a:r>
              <a:rPr lang="en-CA" dirty="0" err="1"/>
              <a:t>recup</a:t>
            </a:r>
            <a:r>
              <a:rPr lang="en-CA" dirty="0"/>
              <a:t> de </a:t>
            </a:r>
            <a:r>
              <a:rPr lang="en-CA" dirty="0" err="1"/>
              <a:t>donnee</a:t>
            </a:r>
            <a:r>
              <a:rPr lang="en-CA" dirty="0"/>
              <a:t> (each 3mn)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022CE446-8D56-5A89-E7A6-921700C6985E}"/>
              </a:ext>
            </a:extLst>
          </p:cNvPr>
          <p:cNvCxnSpPr>
            <a:cxnSpLocks/>
            <a:stCxn id="11" idx="3"/>
            <a:endCxn id="9" idx="2"/>
          </p:cNvCxnSpPr>
          <p:nvPr/>
        </p:nvCxnSpPr>
        <p:spPr>
          <a:xfrm>
            <a:off x="8550038" y="1303846"/>
            <a:ext cx="2114174" cy="13443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81D22CF-7D1D-D41C-9A95-A844BB7F5123}"/>
              </a:ext>
            </a:extLst>
          </p:cNvPr>
          <p:cNvCxnSpPr>
            <a:cxnSpLocks/>
            <a:stCxn id="11" idx="2"/>
            <a:endCxn id="7" idx="2"/>
          </p:cNvCxnSpPr>
          <p:nvPr/>
        </p:nvCxnSpPr>
        <p:spPr>
          <a:xfrm rot="16200000" flipH="1">
            <a:off x="6858647" y="2276347"/>
            <a:ext cx="1712867" cy="53797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1570418-1F05-30E0-052E-54C849B4370B}"/>
              </a:ext>
            </a:extLst>
          </p:cNvPr>
          <p:cNvSpPr txBox="1"/>
          <p:nvPr/>
        </p:nvSpPr>
        <p:spPr>
          <a:xfrm>
            <a:off x="9297810" y="150423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28A61C-01EB-C7EE-36BB-34F96F55F4C7}"/>
              </a:ext>
            </a:extLst>
          </p:cNvPr>
          <p:cNvSpPr txBox="1"/>
          <p:nvPr/>
        </p:nvSpPr>
        <p:spPr>
          <a:xfrm>
            <a:off x="7475260" y="195850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56957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E5E70-F24B-D022-5914-72C5137DE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E1148B-7A33-A9FB-E7A0-609DB33B65CD}"/>
              </a:ext>
            </a:extLst>
          </p:cNvPr>
          <p:cNvSpPr/>
          <p:nvPr/>
        </p:nvSpPr>
        <p:spPr>
          <a:xfrm>
            <a:off x="5554132" y="232837"/>
            <a:ext cx="4433567" cy="57319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B39E0FFD-7FD9-B7FF-6498-38BBF21E7B37}"/>
              </a:ext>
            </a:extLst>
          </p:cNvPr>
          <p:cNvSpPr/>
          <p:nvPr/>
        </p:nvSpPr>
        <p:spPr>
          <a:xfrm>
            <a:off x="7984066" y="2597434"/>
            <a:ext cx="1540933" cy="1608666"/>
          </a:xfrm>
          <a:prstGeom prst="flowChartMagneticDisk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Database</a:t>
            </a:r>
          </a:p>
        </p:txBody>
      </p:sp>
      <p:sp>
        <p:nvSpPr>
          <p:cNvPr id="9" name="Lightning Bolt 8">
            <a:extLst>
              <a:ext uri="{FF2B5EF4-FFF2-40B4-BE49-F238E27FC236}">
                <a16:creationId xmlns:a16="http://schemas.microsoft.com/office/drawing/2014/main" id="{351967B6-AF15-612D-E286-54005919567F}"/>
              </a:ext>
            </a:extLst>
          </p:cNvPr>
          <p:cNvSpPr/>
          <p:nvPr/>
        </p:nvSpPr>
        <p:spPr>
          <a:xfrm rot="899964">
            <a:off x="10414000" y="1634067"/>
            <a:ext cx="905933" cy="2387600"/>
          </a:xfrm>
          <a:prstGeom prst="lightningBol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A6B715-F007-3A50-92CD-3194470747D2}"/>
              </a:ext>
            </a:extLst>
          </p:cNvPr>
          <p:cNvSpPr txBox="1"/>
          <p:nvPr/>
        </p:nvSpPr>
        <p:spPr>
          <a:xfrm>
            <a:off x="10120467" y="4402667"/>
            <a:ext cx="1612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Hydro-</a:t>
            </a:r>
            <a:r>
              <a:rPr lang="en-CA" dirty="0" err="1"/>
              <a:t>quebec</a:t>
            </a:r>
            <a:endParaRPr lang="en-CA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47DE59A-103B-CC3B-1034-BC81626BFD98}"/>
              </a:ext>
            </a:extLst>
          </p:cNvPr>
          <p:cNvSpPr/>
          <p:nvPr/>
        </p:nvSpPr>
        <p:spPr>
          <a:xfrm>
            <a:off x="6342149" y="918791"/>
            <a:ext cx="2207889" cy="770109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Service de </a:t>
            </a:r>
            <a:r>
              <a:rPr lang="en-CA" dirty="0" err="1"/>
              <a:t>recup</a:t>
            </a:r>
            <a:r>
              <a:rPr lang="en-CA" dirty="0"/>
              <a:t> de </a:t>
            </a:r>
            <a:r>
              <a:rPr lang="en-CA" dirty="0" err="1"/>
              <a:t>donnee</a:t>
            </a:r>
            <a:r>
              <a:rPr lang="en-CA" dirty="0"/>
              <a:t> (each 3mn)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8407A5C9-F9C6-8A29-5480-B5E45F39877C}"/>
              </a:ext>
            </a:extLst>
          </p:cNvPr>
          <p:cNvCxnSpPr>
            <a:cxnSpLocks/>
            <a:stCxn id="11" idx="3"/>
            <a:endCxn id="9" idx="2"/>
          </p:cNvCxnSpPr>
          <p:nvPr/>
        </p:nvCxnSpPr>
        <p:spPr>
          <a:xfrm>
            <a:off x="8550038" y="1303846"/>
            <a:ext cx="2114174" cy="13443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1FE7F9D-3C56-CF23-1AB7-46A12B734E36}"/>
              </a:ext>
            </a:extLst>
          </p:cNvPr>
          <p:cNvCxnSpPr>
            <a:cxnSpLocks/>
            <a:stCxn id="11" idx="2"/>
            <a:endCxn id="7" idx="2"/>
          </p:cNvCxnSpPr>
          <p:nvPr/>
        </p:nvCxnSpPr>
        <p:spPr>
          <a:xfrm rot="16200000" flipH="1">
            <a:off x="6858647" y="2276347"/>
            <a:ext cx="1712867" cy="53797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61FF1D6-6EC1-FCDA-8AA7-7EB769CF6A42}"/>
              </a:ext>
            </a:extLst>
          </p:cNvPr>
          <p:cNvSpPr txBox="1"/>
          <p:nvPr/>
        </p:nvSpPr>
        <p:spPr>
          <a:xfrm>
            <a:off x="9297810" y="150423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390D1D-17FF-AB49-9773-E26347BDD89E}"/>
              </a:ext>
            </a:extLst>
          </p:cNvPr>
          <p:cNvSpPr txBox="1"/>
          <p:nvPr/>
        </p:nvSpPr>
        <p:spPr>
          <a:xfrm>
            <a:off x="7475260" y="195850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68938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2FFDD-7271-D23B-FC32-13E6DB5EC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4CDD68-2128-7F1A-963E-15BE71A78E97}"/>
              </a:ext>
            </a:extLst>
          </p:cNvPr>
          <p:cNvSpPr/>
          <p:nvPr/>
        </p:nvSpPr>
        <p:spPr>
          <a:xfrm>
            <a:off x="578534" y="232837"/>
            <a:ext cx="9409166" cy="57319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26162CEA-0B79-4656-BBFD-383C111131DF}"/>
              </a:ext>
            </a:extLst>
          </p:cNvPr>
          <p:cNvSpPr/>
          <p:nvPr/>
        </p:nvSpPr>
        <p:spPr>
          <a:xfrm>
            <a:off x="7984066" y="2597434"/>
            <a:ext cx="1540933" cy="1608666"/>
          </a:xfrm>
          <a:prstGeom prst="flowChartMagneticDisk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Database</a:t>
            </a:r>
          </a:p>
        </p:txBody>
      </p:sp>
      <p:sp>
        <p:nvSpPr>
          <p:cNvPr id="9" name="Lightning Bolt 8">
            <a:extLst>
              <a:ext uri="{FF2B5EF4-FFF2-40B4-BE49-F238E27FC236}">
                <a16:creationId xmlns:a16="http://schemas.microsoft.com/office/drawing/2014/main" id="{2DB5D690-A870-C941-4236-D86F05FB0CFC}"/>
              </a:ext>
            </a:extLst>
          </p:cNvPr>
          <p:cNvSpPr/>
          <p:nvPr/>
        </p:nvSpPr>
        <p:spPr>
          <a:xfrm rot="899964">
            <a:off x="10414000" y="1634067"/>
            <a:ext cx="905933" cy="2387600"/>
          </a:xfrm>
          <a:prstGeom prst="lightningBol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23AE71-8722-E929-B1FB-AC9218DF9789}"/>
              </a:ext>
            </a:extLst>
          </p:cNvPr>
          <p:cNvSpPr txBox="1"/>
          <p:nvPr/>
        </p:nvSpPr>
        <p:spPr>
          <a:xfrm>
            <a:off x="10120467" y="4402667"/>
            <a:ext cx="1612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Hydro-</a:t>
            </a:r>
            <a:r>
              <a:rPr lang="en-CA" dirty="0" err="1"/>
              <a:t>quebec</a:t>
            </a:r>
            <a:endParaRPr lang="en-CA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BE62E10-5475-B2E4-2D30-4D837D2DE35E}"/>
              </a:ext>
            </a:extLst>
          </p:cNvPr>
          <p:cNvSpPr/>
          <p:nvPr/>
        </p:nvSpPr>
        <p:spPr>
          <a:xfrm>
            <a:off x="6342149" y="918791"/>
            <a:ext cx="2207889" cy="770109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Service de </a:t>
            </a:r>
            <a:r>
              <a:rPr lang="en-CA" dirty="0" err="1"/>
              <a:t>recup</a:t>
            </a:r>
            <a:r>
              <a:rPr lang="en-CA" dirty="0"/>
              <a:t> de </a:t>
            </a:r>
            <a:r>
              <a:rPr lang="en-CA" dirty="0" err="1"/>
              <a:t>donnee</a:t>
            </a:r>
            <a:r>
              <a:rPr lang="en-CA" dirty="0"/>
              <a:t> (each 3mn)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189ABA4-34ED-2146-B9B6-22932973C050}"/>
              </a:ext>
            </a:extLst>
          </p:cNvPr>
          <p:cNvCxnSpPr>
            <a:cxnSpLocks/>
            <a:stCxn id="11" idx="3"/>
            <a:endCxn id="9" idx="2"/>
          </p:cNvCxnSpPr>
          <p:nvPr/>
        </p:nvCxnSpPr>
        <p:spPr>
          <a:xfrm>
            <a:off x="8550038" y="1303846"/>
            <a:ext cx="2114174" cy="13443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18BE7448-4D9E-F06D-A104-0E16AEF80B6C}"/>
              </a:ext>
            </a:extLst>
          </p:cNvPr>
          <p:cNvCxnSpPr>
            <a:cxnSpLocks/>
            <a:stCxn id="11" idx="2"/>
            <a:endCxn id="7" idx="2"/>
          </p:cNvCxnSpPr>
          <p:nvPr/>
        </p:nvCxnSpPr>
        <p:spPr>
          <a:xfrm rot="16200000" flipH="1">
            <a:off x="6858647" y="2276347"/>
            <a:ext cx="1712867" cy="53797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DB3D438-E903-4213-7640-F0CACA4B3F92}"/>
              </a:ext>
            </a:extLst>
          </p:cNvPr>
          <p:cNvSpPr txBox="1"/>
          <p:nvPr/>
        </p:nvSpPr>
        <p:spPr>
          <a:xfrm>
            <a:off x="9297810" y="150423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45B880-6CA7-E98B-5919-0AFEB69F8135}"/>
              </a:ext>
            </a:extLst>
          </p:cNvPr>
          <p:cNvSpPr txBox="1"/>
          <p:nvPr/>
        </p:nvSpPr>
        <p:spPr>
          <a:xfrm>
            <a:off x="7475260" y="195850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2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C540D74-F97E-8B28-F6CC-564C9DD56735}"/>
              </a:ext>
            </a:extLst>
          </p:cNvPr>
          <p:cNvSpPr/>
          <p:nvPr/>
        </p:nvSpPr>
        <p:spPr>
          <a:xfrm>
            <a:off x="3487699" y="4510786"/>
            <a:ext cx="2472267" cy="770109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Training des </a:t>
            </a:r>
            <a:r>
              <a:rPr lang="en-CA" dirty="0" err="1"/>
              <a:t>modeles</a:t>
            </a:r>
            <a:br>
              <a:rPr lang="en-CA" dirty="0"/>
            </a:br>
            <a:r>
              <a:rPr lang="en-CA" dirty="0"/>
              <a:t>H2O </a:t>
            </a:r>
            <a:r>
              <a:rPr lang="en-CA" dirty="0" err="1"/>
              <a:t>Automl</a:t>
            </a:r>
            <a:endParaRPr lang="en-CA" dirty="0"/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85FE711F-AE82-AA61-65D5-428497F115CE}"/>
              </a:ext>
            </a:extLst>
          </p:cNvPr>
          <p:cNvCxnSpPr>
            <a:cxnSpLocks/>
            <a:stCxn id="22" idx="3"/>
            <a:endCxn id="7" idx="2"/>
          </p:cNvCxnSpPr>
          <p:nvPr/>
        </p:nvCxnSpPr>
        <p:spPr>
          <a:xfrm flipV="1">
            <a:off x="5959966" y="3401767"/>
            <a:ext cx="2024100" cy="14940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9F01E8A-2EC0-A336-D52F-28A37629D03D}"/>
              </a:ext>
            </a:extLst>
          </p:cNvPr>
          <p:cNvSpPr txBox="1"/>
          <p:nvPr/>
        </p:nvSpPr>
        <p:spPr>
          <a:xfrm>
            <a:off x="6082126" y="233477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3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0638808-7295-0A27-9980-18767934E418}"/>
              </a:ext>
            </a:extLst>
          </p:cNvPr>
          <p:cNvSpPr/>
          <p:nvPr/>
        </p:nvSpPr>
        <p:spPr>
          <a:xfrm>
            <a:off x="1845791" y="2347214"/>
            <a:ext cx="2472267" cy="770109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Server </a:t>
            </a:r>
          </a:p>
          <a:p>
            <a:pPr algn="ctr"/>
            <a:r>
              <a:rPr lang="en-CA" dirty="0"/>
              <a:t>ML flow 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E27A164D-6D36-CD83-8E48-F7C28DB08732}"/>
              </a:ext>
            </a:extLst>
          </p:cNvPr>
          <p:cNvCxnSpPr>
            <a:cxnSpLocks/>
            <a:stCxn id="32" idx="3"/>
            <a:endCxn id="7" idx="2"/>
          </p:cNvCxnSpPr>
          <p:nvPr/>
        </p:nvCxnSpPr>
        <p:spPr>
          <a:xfrm>
            <a:off x="4318058" y="2732269"/>
            <a:ext cx="3666008" cy="6694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6372906-E3A7-32CD-16D8-BCA296CA7CA2}"/>
              </a:ext>
            </a:extLst>
          </p:cNvPr>
          <p:cNvSpPr txBox="1"/>
          <p:nvPr/>
        </p:nvSpPr>
        <p:spPr>
          <a:xfrm>
            <a:off x="7292044" y="453437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45287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AF4F1-5B67-0AF6-94AC-8BABD8026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5EAB346-8708-B3DE-F7FB-0AB7D37E4E1D}"/>
              </a:ext>
            </a:extLst>
          </p:cNvPr>
          <p:cNvSpPr/>
          <p:nvPr/>
        </p:nvSpPr>
        <p:spPr>
          <a:xfrm>
            <a:off x="295580" y="475948"/>
            <a:ext cx="9409166" cy="57319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14B4A3D2-C8FB-9924-D8D4-72E7771B27D3}"/>
              </a:ext>
            </a:extLst>
          </p:cNvPr>
          <p:cNvSpPr/>
          <p:nvPr/>
        </p:nvSpPr>
        <p:spPr>
          <a:xfrm>
            <a:off x="7984066" y="2597434"/>
            <a:ext cx="1540933" cy="1608666"/>
          </a:xfrm>
          <a:prstGeom prst="flowChartMagneticDisk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Database</a:t>
            </a:r>
          </a:p>
        </p:txBody>
      </p:sp>
      <p:sp>
        <p:nvSpPr>
          <p:cNvPr id="9" name="Lightning Bolt 8">
            <a:extLst>
              <a:ext uri="{FF2B5EF4-FFF2-40B4-BE49-F238E27FC236}">
                <a16:creationId xmlns:a16="http://schemas.microsoft.com/office/drawing/2014/main" id="{433369D1-460F-3ADB-6ADB-4E675C4385D0}"/>
              </a:ext>
            </a:extLst>
          </p:cNvPr>
          <p:cNvSpPr/>
          <p:nvPr/>
        </p:nvSpPr>
        <p:spPr>
          <a:xfrm rot="899964">
            <a:off x="10414000" y="1634067"/>
            <a:ext cx="905933" cy="2387600"/>
          </a:xfrm>
          <a:prstGeom prst="lightningBol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AD7983-3405-6714-A227-8F9BE362C6ED}"/>
              </a:ext>
            </a:extLst>
          </p:cNvPr>
          <p:cNvSpPr txBox="1"/>
          <p:nvPr/>
        </p:nvSpPr>
        <p:spPr>
          <a:xfrm>
            <a:off x="10120467" y="4402667"/>
            <a:ext cx="1612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Hydro-</a:t>
            </a:r>
            <a:r>
              <a:rPr lang="en-CA" dirty="0" err="1"/>
              <a:t>quebec</a:t>
            </a:r>
            <a:endParaRPr lang="en-CA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2509E9-DEF7-FD4A-B70D-F17AEDED66B3}"/>
              </a:ext>
            </a:extLst>
          </p:cNvPr>
          <p:cNvSpPr/>
          <p:nvPr/>
        </p:nvSpPr>
        <p:spPr>
          <a:xfrm>
            <a:off x="6342149" y="918791"/>
            <a:ext cx="2207889" cy="770109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Service de </a:t>
            </a:r>
            <a:r>
              <a:rPr lang="en-CA" dirty="0" err="1"/>
              <a:t>recup</a:t>
            </a:r>
            <a:r>
              <a:rPr lang="en-CA" dirty="0"/>
              <a:t> de </a:t>
            </a:r>
            <a:r>
              <a:rPr lang="en-CA" dirty="0" err="1"/>
              <a:t>donnee</a:t>
            </a:r>
            <a:r>
              <a:rPr lang="en-CA" dirty="0"/>
              <a:t> (each 3mn)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0DD34E8-06FF-D64E-60B2-18883C42E3F6}"/>
              </a:ext>
            </a:extLst>
          </p:cNvPr>
          <p:cNvCxnSpPr>
            <a:cxnSpLocks/>
            <a:stCxn id="11" idx="3"/>
            <a:endCxn id="9" idx="2"/>
          </p:cNvCxnSpPr>
          <p:nvPr/>
        </p:nvCxnSpPr>
        <p:spPr>
          <a:xfrm>
            <a:off x="8550038" y="1303846"/>
            <a:ext cx="2114174" cy="13443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A512AB7-5710-41C1-B134-E11A07E1F6F8}"/>
              </a:ext>
            </a:extLst>
          </p:cNvPr>
          <p:cNvCxnSpPr>
            <a:cxnSpLocks/>
            <a:stCxn id="11" idx="2"/>
            <a:endCxn id="7" idx="2"/>
          </p:cNvCxnSpPr>
          <p:nvPr/>
        </p:nvCxnSpPr>
        <p:spPr>
          <a:xfrm rot="16200000" flipH="1">
            <a:off x="6858647" y="2276347"/>
            <a:ext cx="1712867" cy="53797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3352C64-072F-8227-6705-BE46D80CF658}"/>
              </a:ext>
            </a:extLst>
          </p:cNvPr>
          <p:cNvSpPr/>
          <p:nvPr/>
        </p:nvSpPr>
        <p:spPr>
          <a:xfrm>
            <a:off x="578534" y="3177851"/>
            <a:ext cx="2472267" cy="770109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Training des </a:t>
            </a:r>
            <a:r>
              <a:rPr lang="en-CA" dirty="0" err="1"/>
              <a:t>modeles</a:t>
            </a:r>
            <a:br>
              <a:rPr lang="en-CA" dirty="0"/>
            </a:br>
            <a:r>
              <a:rPr lang="en-CA" dirty="0"/>
              <a:t>H2O </a:t>
            </a:r>
            <a:r>
              <a:rPr lang="en-CA" dirty="0" err="1"/>
              <a:t>Automl</a:t>
            </a:r>
            <a:endParaRPr lang="en-CA" dirty="0"/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3AB5EB34-DC23-89F9-957C-6CDD3AC33C04}"/>
              </a:ext>
            </a:extLst>
          </p:cNvPr>
          <p:cNvCxnSpPr>
            <a:cxnSpLocks/>
            <a:stCxn id="22" idx="3"/>
            <a:endCxn id="7" idx="2"/>
          </p:cNvCxnSpPr>
          <p:nvPr/>
        </p:nvCxnSpPr>
        <p:spPr>
          <a:xfrm flipV="1">
            <a:off x="3050801" y="3401767"/>
            <a:ext cx="4933265" cy="161139"/>
          </a:xfrm>
          <a:prstGeom prst="bentConnector3">
            <a:avLst>
              <a:gd name="adj1" fmla="val 23492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8347517-70CC-7E1C-AB96-8C53CDD60F43}"/>
              </a:ext>
            </a:extLst>
          </p:cNvPr>
          <p:cNvSpPr/>
          <p:nvPr/>
        </p:nvSpPr>
        <p:spPr>
          <a:xfrm>
            <a:off x="1814667" y="702137"/>
            <a:ext cx="2472267" cy="770109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Server </a:t>
            </a:r>
          </a:p>
          <a:p>
            <a:pPr algn="ctr"/>
            <a:r>
              <a:rPr lang="en-CA" dirty="0"/>
              <a:t>ML flow 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ED457826-5EBB-A421-6F53-3505C1CEEC78}"/>
              </a:ext>
            </a:extLst>
          </p:cNvPr>
          <p:cNvCxnSpPr>
            <a:cxnSpLocks/>
            <a:stCxn id="32" idx="3"/>
            <a:endCxn id="7" idx="2"/>
          </p:cNvCxnSpPr>
          <p:nvPr/>
        </p:nvCxnSpPr>
        <p:spPr>
          <a:xfrm>
            <a:off x="4286934" y="1087192"/>
            <a:ext cx="3697132" cy="2314575"/>
          </a:xfrm>
          <a:prstGeom prst="bentConnector3">
            <a:avLst>
              <a:gd name="adj1" fmla="val 39628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A73752C-BD6C-A2AA-39F4-FE1835F1395B}"/>
              </a:ext>
            </a:extLst>
          </p:cNvPr>
          <p:cNvSpPr/>
          <p:nvPr/>
        </p:nvSpPr>
        <p:spPr>
          <a:xfrm>
            <a:off x="762341" y="4497011"/>
            <a:ext cx="2472267" cy="770109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 err="1"/>
              <a:t>streamlit</a:t>
            </a:r>
            <a:endParaRPr lang="en-CA" dirty="0"/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F44E0915-3BD5-9D55-5836-A1FD8930AE9F}"/>
              </a:ext>
            </a:extLst>
          </p:cNvPr>
          <p:cNvCxnSpPr>
            <a:cxnSpLocks/>
            <a:stCxn id="4" idx="3"/>
            <a:endCxn id="7" idx="2"/>
          </p:cNvCxnSpPr>
          <p:nvPr/>
        </p:nvCxnSpPr>
        <p:spPr>
          <a:xfrm flipV="1">
            <a:off x="6807482" y="3401767"/>
            <a:ext cx="1176584" cy="6935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0D99409-3CDD-AE90-451F-6EEC7C19892B}"/>
              </a:ext>
            </a:extLst>
          </p:cNvPr>
          <p:cNvSpPr/>
          <p:nvPr/>
        </p:nvSpPr>
        <p:spPr>
          <a:xfrm>
            <a:off x="4335215" y="3710287"/>
            <a:ext cx="2472267" cy="770109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Prediction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B222FF-910F-40CC-4F85-5687E071C625}"/>
              </a:ext>
            </a:extLst>
          </p:cNvPr>
          <p:cNvSpPr/>
          <p:nvPr/>
        </p:nvSpPr>
        <p:spPr>
          <a:xfrm>
            <a:off x="1039231" y="1775224"/>
            <a:ext cx="2472267" cy="770109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 err="1"/>
              <a:t>Dvc</a:t>
            </a:r>
            <a:r>
              <a:rPr lang="en-CA" dirty="0"/>
              <a:t> server:</a:t>
            </a:r>
          </a:p>
          <a:p>
            <a:pPr algn="ctr"/>
            <a:r>
              <a:rPr lang="en-CA" dirty="0"/>
              <a:t> min-io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066C4942-4B37-353E-B2AE-909417CE7083}"/>
              </a:ext>
            </a:extLst>
          </p:cNvPr>
          <p:cNvCxnSpPr>
            <a:cxnSpLocks/>
            <a:stCxn id="8" idx="3"/>
            <a:endCxn id="7" idx="2"/>
          </p:cNvCxnSpPr>
          <p:nvPr/>
        </p:nvCxnSpPr>
        <p:spPr>
          <a:xfrm>
            <a:off x="3511498" y="2160279"/>
            <a:ext cx="4472568" cy="12414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4E4967DC-7126-2500-461B-B87A0A499447}"/>
              </a:ext>
            </a:extLst>
          </p:cNvPr>
          <p:cNvCxnSpPr>
            <a:cxnSpLocks/>
            <a:stCxn id="13" idx="0"/>
            <a:endCxn id="4" idx="2"/>
          </p:cNvCxnSpPr>
          <p:nvPr/>
        </p:nvCxnSpPr>
        <p:spPr>
          <a:xfrm rot="16200000" flipV="1">
            <a:off x="5368404" y="4683341"/>
            <a:ext cx="405892" cy="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5E10514-49D5-161C-2FFF-61CB6206275F}"/>
              </a:ext>
            </a:extLst>
          </p:cNvPr>
          <p:cNvSpPr/>
          <p:nvPr/>
        </p:nvSpPr>
        <p:spPr>
          <a:xfrm>
            <a:off x="4335216" y="4886288"/>
            <a:ext cx="2472267" cy="770109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 err="1"/>
              <a:t>FastApi</a:t>
            </a:r>
            <a:endParaRPr lang="en-CA" dirty="0"/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F436B5A1-4E0D-FCEF-C523-67624E91CDD3}"/>
              </a:ext>
            </a:extLst>
          </p:cNvPr>
          <p:cNvCxnSpPr>
            <a:cxnSpLocks/>
            <a:stCxn id="38" idx="3"/>
            <a:endCxn id="13" idx="1"/>
          </p:cNvCxnSpPr>
          <p:nvPr/>
        </p:nvCxnSpPr>
        <p:spPr>
          <a:xfrm>
            <a:off x="3234608" y="4882066"/>
            <a:ext cx="1100608" cy="389277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113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F7767-057F-345A-BE88-5B591E4A4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Technologies utilisées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CFE48-6C10-A126-7733-01984FEAC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 err="1"/>
              <a:t>Postgres</a:t>
            </a:r>
            <a:r>
              <a:rPr lang="fr-FR" dirty="0"/>
              <a:t> pour la base de données</a:t>
            </a:r>
          </a:p>
          <a:p>
            <a:r>
              <a:rPr lang="fr-FR" dirty="0"/>
              <a:t>Docker pour la conteneurisation </a:t>
            </a:r>
          </a:p>
          <a:p>
            <a:r>
              <a:rPr lang="en-CA" dirty="0"/>
              <a:t>H2O </a:t>
            </a:r>
            <a:r>
              <a:rPr lang="en-CA" dirty="0" err="1"/>
              <a:t>automl</a:t>
            </a:r>
            <a:r>
              <a:rPr lang="en-CA" dirty="0"/>
              <a:t> pour </a:t>
            </a:r>
            <a:r>
              <a:rPr lang="en-CA" dirty="0" err="1"/>
              <a:t>l’experimentation</a:t>
            </a:r>
            <a:r>
              <a:rPr lang="en-CA" dirty="0"/>
              <a:t> </a:t>
            </a:r>
          </a:p>
          <a:p>
            <a:r>
              <a:rPr lang="en-CA" dirty="0" err="1"/>
              <a:t>Mlflow</a:t>
            </a:r>
            <a:r>
              <a:rPr lang="en-CA" dirty="0"/>
              <a:t> pour le </a:t>
            </a:r>
            <a:r>
              <a:rPr lang="en-CA" dirty="0" err="1"/>
              <a:t>traçage</a:t>
            </a:r>
            <a:r>
              <a:rPr lang="en-CA" dirty="0"/>
              <a:t> des execution </a:t>
            </a:r>
          </a:p>
          <a:p>
            <a:r>
              <a:rPr lang="en-CA" dirty="0"/>
              <a:t>Minio pour les copies de données </a:t>
            </a:r>
          </a:p>
          <a:p>
            <a:r>
              <a:rPr lang="en-CA" dirty="0"/>
              <a:t>Fast </a:t>
            </a:r>
            <a:r>
              <a:rPr lang="en-CA" dirty="0" err="1"/>
              <a:t>api</a:t>
            </a:r>
            <a:r>
              <a:rPr lang="en-CA" dirty="0"/>
              <a:t> pour les </a:t>
            </a:r>
            <a:r>
              <a:rPr lang="en-CA" dirty="0" err="1"/>
              <a:t>apis</a:t>
            </a:r>
            <a:r>
              <a:rPr lang="en-CA" dirty="0"/>
              <a:t> </a:t>
            </a:r>
          </a:p>
          <a:p>
            <a:r>
              <a:rPr lang="en-CA" dirty="0" err="1"/>
              <a:t>Streamlit</a:t>
            </a:r>
            <a:r>
              <a:rPr lang="en-CA" dirty="0"/>
              <a:t> pour </a:t>
            </a:r>
            <a:r>
              <a:rPr lang="en-CA" dirty="0" err="1"/>
              <a:t>l’interface</a:t>
            </a:r>
            <a:r>
              <a:rPr lang="en-CA" dirty="0"/>
              <a:t> </a:t>
            </a:r>
            <a:r>
              <a:rPr lang="en-CA" dirty="0" err="1"/>
              <a:t>utilisateur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55583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2251A6-6580-1853-A6EB-E01D730F0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485" y="437891"/>
            <a:ext cx="10265030" cy="598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647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B722C8-2AE3-400D-9117-BBA0E6C78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40" y="0"/>
            <a:ext cx="87785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829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577402-E7E1-1D55-7EF1-3B7BF3B40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885" y="0"/>
            <a:ext cx="91482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002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6B78CB-28E1-14BC-DECE-7B39390BB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550" y="0"/>
            <a:ext cx="7152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559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D6774E-3E55-894E-68B5-9D60CD919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25" y="0"/>
            <a:ext cx="103193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8214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CFC9B-212C-1F04-EBF4-2BAE1FC47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Prochainement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3DA56-9EF8-903B-E8B7-D86030534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Focus sur le </a:t>
            </a:r>
            <a:r>
              <a:rPr lang="fr-FR" dirty="0" err="1"/>
              <a:t>pre-traitement</a:t>
            </a:r>
            <a:r>
              <a:rPr lang="fr-FR" dirty="0"/>
              <a:t> </a:t>
            </a:r>
            <a:r>
              <a:rPr lang="en-CA" dirty="0"/>
              <a:t>(conversion de variables) </a:t>
            </a:r>
          </a:p>
          <a:p>
            <a:r>
              <a:rPr lang="en-CA" dirty="0" err="1"/>
              <a:t>Collecte</a:t>
            </a:r>
            <a:r>
              <a:rPr lang="en-CA" dirty="0"/>
              <a:t> de beaucoup plus de données </a:t>
            </a:r>
          </a:p>
          <a:p>
            <a:r>
              <a:rPr lang="en-CA" dirty="0"/>
              <a:t>Comparer la regression </a:t>
            </a:r>
            <a:r>
              <a:rPr lang="en-CA" dirty="0" err="1"/>
              <a:t>linéaire</a:t>
            </a:r>
            <a:r>
              <a:rPr lang="en-CA" dirty="0"/>
              <a:t> avec </a:t>
            </a:r>
            <a:r>
              <a:rPr lang="en-CA" dirty="0" err="1"/>
              <a:t>d’autres</a:t>
            </a:r>
            <a:r>
              <a:rPr lang="en-CA" dirty="0"/>
              <a:t> algorithms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0782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9383</TotalTime>
  <Words>492</Words>
  <Application>Microsoft Office PowerPoint</Application>
  <PresentationFormat>Widescreen</PresentationFormat>
  <Paragraphs>174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Prédire la prochaine interruption chez Hydro-Quebec</vt:lpstr>
      <vt:lpstr>Sommaire </vt:lpstr>
      <vt:lpstr>Collecte de données</vt:lpstr>
      <vt:lpstr>Exploratory Data Analysis</vt:lpstr>
      <vt:lpstr>Pré-traitement</vt:lpstr>
      <vt:lpstr>Choix du modèle</vt:lpstr>
      <vt:lpstr>Evaluation</vt:lpstr>
      <vt:lpstr>Deploiement</vt:lpstr>
      <vt:lpstr>Pourquoi ne pas deployer ? </vt:lpstr>
      <vt:lpstr>Sommaire </vt:lpstr>
      <vt:lpstr>PowerPoint Presentation</vt:lpstr>
      <vt:lpstr>PowerPoint Presentation</vt:lpstr>
      <vt:lpstr>PowerPoint Presentation</vt:lpstr>
      <vt:lpstr>PowerPoint Presentation</vt:lpstr>
      <vt:lpstr>Technologies utilisées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Prochainement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Slaheddine Elfidha</dc:creator>
  <cp:lastModifiedBy>Slaheddine Elfidha</cp:lastModifiedBy>
  <cp:revision>5</cp:revision>
  <dcterms:created xsi:type="dcterms:W3CDTF">2026-08-29T00:59:11Z</dcterms:created>
  <dcterms:modified xsi:type="dcterms:W3CDTF">2026-09-25T05:48:03Z</dcterms:modified>
</cp:coreProperties>
</file>